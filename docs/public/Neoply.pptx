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84" r:id="rId2"/>
    <p:sldId id="369" r:id="rId3"/>
    <p:sldId id="388" r:id="rId4"/>
    <p:sldId id="356" r:id="rId5"/>
    <p:sldId id="344" r:id="rId6"/>
    <p:sldId id="358" r:id="rId7"/>
    <p:sldId id="363" r:id="rId8"/>
    <p:sldId id="364" r:id="rId9"/>
    <p:sldId id="365" r:id="rId10"/>
    <p:sldId id="366" r:id="rId11"/>
    <p:sldId id="372" r:id="rId12"/>
    <p:sldId id="370" r:id="rId13"/>
    <p:sldId id="376" r:id="rId14"/>
    <p:sldId id="351" r:id="rId15"/>
    <p:sldId id="352" r:id="rId16"/>
    <p:sldId id="353" r:id="rId17"/>
    <p:sldId id="354" r:id="rId18"/>
    <p:sldId id="355" r:id="rId19"/>
    <p:sldId id="38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83A371-F4D7-4A48-8ACC-60835E908AB6}" v="1" dt="2026-10-06T08:49:44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Bogalheiro" userId="dc4f69c44af47b0d" providerId="LiveId" clId="{10551B59-746F-4326-8996-D05D4F5D8789}"/>
    <pc:docChg chg="undo custSel addSld delSld modSld sldOrd delSection">
      <pc:chgData name="Nicolas Bogalheiro" userId="dc4f69c44af47b0d" providerId="LiveId" clId="{10551B59-746F-4326-8996-D05D4F5D8789}" dt="2026-10-06T08:49:40.325" v="1032" actId="20577"/>
      <pc:docMkLst>
        <pc:docMk/>
      </pc:docMkLst>
      <pc:sldChg chg="add">
        <pc:chgData name="Nicolas Bogalheiro" userId="dc4f69c44af47b0d" providerId="LiveId" clId="{10551B59-746F-4326-8996-D05D4F5D8789}" dt="2026-10-04T00:12:06.425" v="486"/>
        <pc:sldMkLst>
          <pc:docMk/>
          <pc:sldMk cId="3949917268" sldId="344"/>
        </pc:sldMkLst>
      </pc:sldChg>
      <pc:sldChg chg="add">
        <pc:chgData name="Nicolas Bogalheiro" userId="dc4f69c44af47b0d" providerId="LiveId" clId="{10551B59-746F-4326-8996-D05D4F5D8789}" dt="2026-10-04T00:12:46.723" v="504"/>
        <pc:sldMkLst>
          <pc:docMk/>
          <pc:sldMk cId="2984613694" sldId="351"/>
        </pc:sldMkLst>
      </pc:sldChg>
      <pc:sldChg chg="add">
        <pc:chgData name="Nicolas Bogalheiro" userId="dc4f69c44af47b0d" providerId="LiveId" clId="{10551B59-746F-4326-8996-D05D4F5D8789}" dt="2026-10-04T00:13:20.248" v="506"/>
        <pc:sldMkLst>
          <pc:docMk/>
          <pc:sldMk cId="4014971561" sldId="352"/>
        </pc:sldMkLst>
      </pc:sldChg>
      <pc:sldChg chg="add">
        <pc:chgData name="Nicolas Bogalheiro" userId="dc4f69c44af47b0d" providerId="LiveId" clId="{10551B59-746F-4326-8996-D05D4F5D8789}" dt="2026-10-04T00:13:29.183" v="508"/>
        <pc:sldMkLst>
          <pc:docMk/>
          <pc:sldMk cId="1136214104" sldId="353"/>
        </pc:sldMkLst>
      </pc:sldChg>
      <pc:sldChg chg="add">
        <pc:chgData name="Nicolas Bogalheiro" userId="dc4f69c44af47b0d" providerId="LiveId" clId="{10551B59-746F-4326-8996-D05D4F5D8789}" dt="2026-10-04T00:13:37.263" v="510"/>
        <pc:sldMkLst>
          <pc:docMk/>
          <pc:sldMk cId="3004405240" sldId="354"/>
        </pc:sldMkLst>
      </pc:sldChg>
      <pc:sldChg chg="add">
        <pc:chgData name="Nicolas Bogalheiro" userId="dc4f69c44af47b0d" providerId="LiveId" clId="{10551B59-746F-4326-8996-D05D4F5D8789}" dt="2026-10-04T00:13:45.953" v="512"/>
        <pc:sldMkLst>
          <pc:docMk/>
          <pc:sldMk cId="4156031682" sldId="355"/>
        </pc:sldMkLst>
      </pc:sldChg>
      <pc:sldChg chg="add">
        <pc:chgData name="Nicolas Bogalheiro" userId="dc4f69c44af47b0d" providerId="LiveId" clId="{10551B59-746F-4326-8996-D05D4F5D8789}" dt="2026-10-04T00:13:54.834" v="514"/>
        <pc:sldMkLst>
          <pc:docMk/>
          <pc:sldMk cId="732839162" sldId="356"/>
        </pc:sldMkLst>
      </pc:sldChg>
      <pc:sldChg chg="add">
        <pc:chgData name="Nicolas Bogalheiro" userId="dc4f69c44af47b0d" providerId="LiveId" clId="{10551B59-746F-4326-8996-D05D4F5D8789}" dt="2026-10-04T00:15:52.118" v="527"/>
        <pc:sldMkLst>
          <pc:docMk/>
          <pc:sldMk cId="2077822737" sldId="358"/>
        </pc:sldMkLst>
      </pc:sldChg>
      <pc:sldChg chg="add">
        <pc:chgData name="Nicolas Bogalheiro" userId="dc4f69c44af47b0d" providerId="LiveId" clId="{10551B59-746F-4326-8996-D05D4F5D8789}" dt="2026-10-04T00:16:00.975" v="537"/>
        <pc:sldMkLst>
          <pc:docMk/>
          <pc:sldMk cId="3799431012" sldId="363"/>
        </pc:sldMkLst>
      </pc:sldChg>
      <pc:sldChg chg="add">
        <pc:chgData name="Nicolas Bogalheiro" userId="dc4f69c44af47b0d" providerId="LiveId" clId="{10551B59-746F-4326-8996-D05D4F5D8789}" dt="2026-10-04T00:16:01.185" v="539"/>
        <pc:sldMkLst>
          <pc:docMk/>
          <pc:sldMk cId="1136316242" sldId="364"/>
        </pc:sldMkLst>
      </pc:sldChg>
      <pc:sldChg chg="add">
        <pc:chgData name="Nicolas Bogalheiro" userId="dc4f69c44af47b0d" providerId="LiveId" clId="{10551B59-746F-4326-8996-D05D4F5D8789}" dt="2026-10-04T00:16:01.385" v="541"/>
        <pc:sldMkLst>
          <pc:docMk/>
          <pc:sldMk cId="73324726" sldId="365"/>
        </pc:sldMkLst>
      </pc:sldChg>
      <pc:sldChg chg="add">
        <pc:chgData name="Nicolas Bogalheiro" userId="dc4f69c44af47b0d" providerId="LiveId" clId="{10551B59-746F-4326-8996-D05D4F5D8789}" dt="2026-10-04T00:16:01.593" v="543"/>
        <pc:sldMkLst>
          <pc:docMk/>
          <pc:sldMk cId="3149560698" sldId="366"/>
        </pc:sldMkLst>
      </pc:sldChg>
      <pc:sldChg chg="modSp add mod">
        <pc:chgData name="Nicolas Bogalheiro" userId="dc4f69c44af47b0d" providerId="LiveId" clId="{10551B59-746F-4326-8996-D05D4F5D8789}" dt="2026-10-04T00:32:52.048" v="818" actId="20577"/>
        <pc:sldMkLst>
          <pc:docMk/>
          <pc:sldMk cId="85321369" sldId="369"/>
        </pc:sldMkLst>
        <pc:spChg chg="mod">
          <ac:chgData name="Nicolas Bogalheiro" userId="dc4f69c44af47b0d" providerId="LiveId" clId="{10551B59-746F-4326-8996-D05D4F5D8789}" dt="2026-10-04T00:31:47.835" v="712" actId="403"/>
          <ac:spMkLst>
            <pc:docMk/>
            <pc:sldMk cId="85321369" sldId="369"/>
            <ac:spMk id="6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31:45.572" v="711" actId="403"/>
          <ac:spMkLst>
            <pc:docMk/>
            <pc:sldMk cId="85321369" sldId="369"/>
            <ac:spMk id="9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31:38.539" v="710" actId="403"/>
          <ac:spMkLst>
            <pc:docMk/>
            <pc:sldMk cId="85321369" sldId="369"/>
            <ac:spMk id="12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32:52.048" v="818" actId="20577"/>
          <ac:spMkLst>
            <pc:docMk/>
            <pc:sldMk cId="85321369" sldId="369"/>
            <ac:spMk id="17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32:19.653" v="762" actId="20577"/>
          <ac:spMkLst>
            <pc:docMk/>
            <pc:sldMk cId="85321369" sldId="369"/>
            <ac:spMk id="20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32:10.482" v="739" actId="20577"/>
          <ac:spMkLst>
            <pc:docMk/>
            <pc:sldMk cId="85321369" sldId="369"/>
            <ac:spMk id="23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30:05.739" v="685" actId="404"/>
          <ac:spMkLst>
            <pc:docMk/>
            <pc:sldMk cId="85321369" sldId="369"/>
            <ac:spMk id="26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32:00.298" v="716" actId="404"/>
          <ac:spMkLst>
            <pc:docMk/>
            <pc:sldMk cId="85321369" sldId="369"/>
            <ac:spMk id="402" creationId="{00000000-0000-0000-0000-000000000000}"/>
          </ac:spMkLst>
        </pc:spChg>
      </pc:sldChg>
      <pc:sldChg chg="add">
        <pc:chgData name="Nicolas Bogalheiro" userId="dc4f69c44af47b0d" providerId="LiveId" clId="{10551B59-746F-4326-8996-D05D4F5D8789}" dt="2026-10-04T00:16:27.546" v="551"/>
        <pc:sldMkLst>
          <pc:docMk/>
          <pc:sldMk cId="845665491" sldId="370"/>
        </pc:sldMkLst>
      </pc:sldChg>
      <pc:sldChg chg="add">
        <pc:chgData name="Nicolas Bogalheiro" userId="dc4f69c44af47b0d" providerId="LiveId" clId="{10551B59-746F-4326-8996-D05D4F5D8789}" dt="2026-10-04T00:17:03.381" v="555"/>
        <pc:sldMkLst>
          <pc:docMk/>
          <pc:sldMk cId="2969054961" sldId="372"/>
        </pc:sldMkLst>
      </pc:sldChg>
      <pc:sldChg chg="add">
        <pc:chgData name="Nicolas Bogalheiro" userId="dc4f69c44af47b0d" providerId="LiveId" clId="{10551B59-746F-4326-8996-D05D4F5D8789}" dt="2026-10-04T00:22:54.417" v="563"/>
        <pc:sldMkLst>
          <pc:docMk/>
          <pc:sldMk cId="233078441" sldId="376"/>
        </pc:sldMkLst>
      </pc:sldChg>
      <pc:sldChg chg="delSp modSp add mod">
        <pc:chgData name="Nicolas Bogalheiro" userId="dc4f69c44af47b0d" providerId="LiveId" clId="{10551B59-746F-4326-8996-D05D4F5D8789}" dt="2026-10-04T00:26:16.184" v="586" actId="478"/>
        <pc:sldMkLst>
          <pc:docMk/>
          <pc:sldMk cId="777914285" sldId="384"/>
        </pc:sldMkLst>
      </pc:sldChg>
      <pc:sldChg chg="delSp modSp add mod">
        <pc:chgData name="Nicolas Bogalheiro" userId="dc4f69c44af47b0d" providerId="LiveId" clId="{10551B59-746F-4326-8996-D05D4F5D8789}" dt="2026-10-04T00:28:31.605" v="615" actId="1076"/>
        <pc:sldMkLst>
          <pc:docMk/>
          <pc:sldMk cId="2507456223" sldId="386"/>
        </pc:sldMkLst>
        <pc:spChg chg="mod">
          <ac:chgData name="Nicolas Bogalheiro" userId="dc4f69c44af47b0d" providerId="LiveId" clId="{10551B59-746F-4326-8996-D05D4F5D8789}" dt="2026-10-04T00:28:31.605" v="615" actId="1076"/>
          <ac:spMkLst>
            <pc:docMk/>
            <pc:sldMk cId="2507456223" sldId="386"/>
            <ac:spMk id="3" creationId="{00000000-0000-0000-0000-000000000000}"/>
          </ac:spMkLst>
        </pc:spChg>
        <pc:picChg chg="mod">
          <ac:chgData name="Nicolas Bogalheiro" userId="dc4f69c44af47b0d" providerId="LiveId" clId="{10551B59-746F-4326-8996-D05D4F5D8789}" dt="2026-10-04T00:28:06.566" v="592" actId="1076"/>
          <ac:picMkLst>
            <pc:docMk/>
            <pc:sldMk cId="2507456223" sldId="386"/>
            <ac:picMk id="4" creationId="{00000000-0000-0000-0000-000000000000}"/>
          </ac:picMkLst>
        </pc:picChg>
      </pc:sldChg>
      <pc:sldChg chg="modSp add mod">
        <pc:chgData name="Nicolas Bogalheiro" userId="dc4f69c44af47b0d" providerId="LiveId" clId="{10551B59-746F-4326-8996-D05D4F5D8789}" dt="2026-10-06T08:49:40.325" v="1032" actId="20577"/>
        <pc:sldMkLst>
          <pc:docMk/>
          <pc:sldMk cId="1131776119" sldId="388"/>
        </pc:sldMkLst>
        <pc:spChg chg="mod">
          <ac:chgData name="Nicolas Bogalheiro" userId="dc4f69c44af47b0d" providerId="LiveId" clId="{10551B59-746F-4326-8996-D05D4F5D8789}" dt="2026-10-06T08:49:40.325" v="1032" actId="20577"/>
          <ac:spMkLst>
            <pc:docMk/>
            <pc:sldMk cId="1131776119" sldId="388"/>
            <ac:spMk id="53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41:34.978" v="1010"/>
          <ac:spMkLst>
            <pc:docMk/>
            <pc:sldMk cId="1131776119" sldId="388"/>
            <ac:spMk id="57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41:34.991" v="1027"/>
          <ac:spMkLst>
            <pc:docMk/>
            <pc:sldMk cId="1131776119" sldId="388"/>
            <ac:spMk id="61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41:34.978" v="1012"/>
          <ac:spMkLst>
            <pc:docMk/>
            <pc:sldMk cId="1131776119" sldId="388"/>
            <ac:spMk id="70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41:34.978" v="1014"/>
          <ac:spMkLst>
            <pc:docMk/>
            <pc:sldMk cId="1131776119" sldId="388"/>
            <ac:spMk id="71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41:34.978" v="1018"/>
          <ac:spMkLst>
            <pc:docMk/>
            <pc:sldMk cId="1131776119" sldId="388"/>
            <ac:spMk id="72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41:34.978" v="1020"/>
          <ac:spMkLst>
            <pc:docMk/>
            <pc:sldMk cId="1131776119" sldId="388"/>
            <ac:spMk id="73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41:34.988" v="1024"/>
          <ac:spMkLst>
            <pc:docMk/>
            <pc:sldMk cId="1131776119" sldId="388"/>
            <ac:spMk id="74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41:34.988" v="1026"/>
          <ac:spMkLst>
            <pc:docMk/>
            <pc:sldMk cId="1131776119" sldId="388"/>
            <ac:spMk id="75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41:34.988" v="1022"/>
          <ac:spMkLst>
            <pc:docMk/>
            <pc:sldMk cId="1131776119" sldId="388"/>
            <ac:spMk id="76" creationId="{00000000-0000-0000-0000-000000000000}"/>
          </ac:spMkLst>
        </pc:spChg>
        <pc:spChg chg="mod">
          <ac:chgData name="Nicolas Bogalheiro" userId="dc4f69c44af47b0d" providerId="LiveId" clId="{10551B59-746F-4326-8996-D05D4F5D8789}" dt="2026-10-04T00:41:34.978" v="1016"/>
          <ac:spMkLst>
            <pc:docMk/>
            <pc:sldMk cId="1131776119" sldId="388"/>
            <ac:spMk id="1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360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R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812810"/>
            <a:ext cx="6095939" cy="2540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kern="0" spc="4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1206459"/>
            <a:ext cx="6095939" cy="165104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nicoboga.netlify.app/" TargetMode="External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3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812810"/>
            <a:ext cx="609593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3"/>
                </a:solidFill>
              </a:rPr>
              <a:t>CV · LINKEDIN · COACHING · ENTRETIEN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1206459"/>
            <a:ext cx="6095939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Neoply</a:t>
            </a:r>
            <a:endParaRPr lang="en-US" sz="6000" dirty="0"/>
          </a:p>
        </p:txBody>
      </p:sp>
      <p:sp>
        <p:nvSpPr>
          <p:cNvPr id="5" name="texte-2"/>
          <p:cNvSpPr txBox="1"/>
          <p:nvPr/>
        </p:nvSpPr>
        <p:spPr>
          <a:xfrm>
            <a:off x="812800" y="5209088"/>
            <a:ext cx="6095939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dirty="0">
                <a:solidFill>
                  <a:schemeClr val="bg1"/>
                </a:solidFill>
              </a:rPr>
              <a:t>Nicolas BOGALHEIRO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400" dirty="0">
                <a:solidFill>
                  <a:schemeClr val="accent4"/>
                </a:solidFill>
              </a:rPr>
              <a:t>Software Engineer, AI-Augmented &amp; Full Stack Developer</a:t>
            </a:r>
          </a:p>
        </p:txBody>
      </p:sp>
      <p:pic>
        <p:nvPicPr>
          <p:cNvPr id="7" name="logo-4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9235441" y="4871513"/>
            <a:ext cx="2494974" cy="16403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qr-271" descr="QR code">
            <a:extLst>
              <a:ext uri="{FF2B5EF4-FFF2-40B4-BE49-F238E27FC236}">
                <a16:creationId xmlns:a16="http://schemas.microsoft.com/office/drawing/2014/main" id="{F336633F-B122-A00E-2069-C3B3C9424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20" y="3355350"/>
            <a:ext cx="1777959" cy="177795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360346D-E624-9348-D03C-E82A5F2C2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514" y="138546"/>
            <a:ext cx="3904344" cy="4193265"/>
          </a:xfrm>
          <a:prstGeom prst="rect">
            <a:avLst/>
          </a:prstGeom>
        </p:spPr>
      </p:pic>
      <p:sp>
        <p:nvSpPr>
          <p:cNvPr id="20" name="date-entretien"/>
          <p:cNvSpPr txBox="1"/>
          <p:nvPr/>
        </p:nvSpPr>
        <p:spPr>
          <a:xfrm>
            <a:off x="812739" y="2235178"/>
            <a:ext cx="6096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300"/>
              </a:spcBef>
            </a:pPr>
            <a:r>
              <a:rPr lang="fr-FR" sz="1400" dirty="0">
                <a:solidFill>
                  <a:schemeClr val="accent3"/>
                </a:solidFill>
              </a:rPr>
              <a:t>JJ/MM/AAAA – HHhMM -&gt; HHhMM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fr-FR" sz="1400" dirty="0">
                <a:solidFill>
                  <a:schemeClr val="accent3"/>
                </a:solidFill>
              </a:rPr>
              <a:t>Avec Prénom NOM, Poste</a:t>
            </a:r>
          </a:p>
        </p:txBody>
      </p:sp>
      <p:sp>
        <p:nvSpPr>
          <p:cNvPr id="30" name="contact-0"/>
          <p:cNvSpPr txBox="1"/>
          <p:nvPr/>
        </p:nvSpPr>
        <p:spPr>
          <a:xfrm>
            <a:off x="1092200" y="6089650"/>
            <a:ext cx="338234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>
              <a:buNone/>
            </a:pPr>
            <a:r>
              <a:rPr lang="fr-FR" sz="1100" dirty="0">
                <a:solidFill>
                  <a:schemeClr val="accent3"/>
                </a:solidFill>
              </a:rPr>
              <a:t>Paris</a:t>
            </a:r>
          </a:p>
        </p:txBody>
      </p:sp>
      <p:sp>
        <p:nvSpPr>
          <p:cNvPr id="31" name="contact-1"/>
          <p:cNvSpPr txBox="1"/>
          <p:nvPr/>
        </p:nvSpPr>
        <p:spPr>
          <a:xfrm>
            <a:off x="1905000" y="6089650"/>
            <a:ext cx="958596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>
              <a:buNone/>
            </a:pPr>
            <a:r>
              <a:rPr lang="fr-FR" sz="1100" dirty="0">
                <a:solidFill>
                  <a:schemeClr val="accent3"/>
                </a:solidFill>
              </a:rPr>
              <a:t>06 37 41 25 92</a:t>
            </a:r>
          </a:p>
        </p:txBody>
      </p:sp>
      <p:sp>
        <p:nvSpPr>
          <p:cNvPr id="32" name="contact-2"/>
          <p:cNvSpPr txBox="1"/>
          <p:nvPr/>
        </p:nvSpPr>
        <p:spPr>
          <a:xfrm>
            <a:off x="3340100" y="6089650"/>
            <a:ext cx="2194512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>
              <a:buNone/>
            </a:pPr>
            <a:r>
              <a:rPr lang="fr-FR" sz="1100" dirty="0">
                <a:solidFill>
                  <a:schemeClr val="accent3"/>
                </a:solidFill>
              </a:rPr>
              <a:t>nicolas.bogalheiro@gmail.com</a:t>
            </a:r>
          </a:p>
        </p:txBody>
      </p:sp>
      <p:sp>
        <p:nvSpPr>
          <p:cNvPr id="33" name="contact-3"/>
          <p:cNvSpPr txBox="1"/>
          <p:nvPr/>
        </p:nvSpPr>
        <p:spPr>
          <a:xfrm>
            <a:off x="6007100" y="6089650"/>
            <a:ext cx="1441100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>
              <a:buNone/>
            </a:pPr>
            <a:r>
              <a:rPr lang="fr-FR" sz="1100" dirty="0">
                <a:solidFill>
                  <a:schemeClr val="accent3"/>
                </a:solidFill>
                <a:hlinkClick r:id="rId6" tooltip="Portfoli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nicoboga.netlify.app</a:t>
            </a:r>
            <a:endParaRPr lang="fr-FR" sz="1100" dirty="0">
              <a:solidFill>
                <a:schemeClr val="accent3"/>
              </a:solidFill>
            </a:endParaRPr>
          </a:p>
        </p:txBody>
      </p:sp>
      <p:pic>
        <p:nvPicPr>
          <p:cNvPr id="43" name="Graphic 43" descr="Localis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800" y="6060440"/>
            <a:ext cx="228600" cy="228600"/>
          </a:xfrm>
          <a:prstGeom prst="rect">
            <a:avLst/>
          </a:prstGeom>
        </p:spPr>
      </p:pic>
      <p:pic>
        <p:nvPicPr>
          <p:cNvPr id="44" name="Graphic 44" descr="Télépho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25600" y="6060440"/>
            <a:ext cx="228600" cy="228600"/>
          </a:xfrm>
          <a:prstGeom prst="rect">
            <a:avLst/>
          </a:prstGeom>
        </p:spPr>
      </p:pic>
      <p:pic>
        <p:nvPicPr>
          <p:cNvPr id="45" name="Graphic 45" descr="E-mai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0700" y="6060440"/>
            <a:ext cx="228600" cy="228600"/>
          </a:xfrm>
          <a:prstGeom prst="rect">
            <a:avLst/>
          </a:prstGeom>
        </p:spPr>
      </p:pic>
      <p:pic>
        <p:nvPicPr>
          <p:cNvPr id="46" name="Graphic 46" descr="Portfol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27700" y="606044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1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SÉANCE DÉCOUVERTE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Ordre du jour</a:t>
            </a:r>
            <a:endParaRPr lang="en-US" sz="3000" dirty="0"/>
          </a:p>
        </p:txBody>
      </p:sp>
      <p:sp>
        <p:nvSpPr>
          <p:cNvPr id="4" name="carte-5"/>
          <p:cNvSpPr/>
          <p:nvPr/>
        </p:nvSpPr>
        <p:spPr>
          <a:xfrm>
            <a:off x="812800" y="1841500"/>
            <a:ext cx="5181600" cy="1016000"/>
          </a:xfrm>
          <a:prstGeom prst="roundRect">
            <a:avLst>
              <a:gd name="adj" fmla="val 2400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pastille-6"/>
          <p:cNvSpPr txBox="1"/>
          <p:nvPr/>
        </p:nvSpPr>
        <p:spPr>
          <a:xfrm>
            <a:off x="1041400" y="2159000"/>
            <a:ext cx="381000" cy="3810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e-7"/>
          <p:cNvSpPr txBox="1"/>
          <p:nvPr/>
        </p:nvSpPr>
        <p:spPr>
          <a:xfrm>
            <a:off x="1600200" y="1841500"/>
            <a:ext cx="4216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Qui suis-je ?</a:t>
            </a:r>
          </a:p>
          <a:p>
            <a:pPr marL="0" indent="0">
              <a:buNone/>
            </a:pPr>
            <a:r>
              <a:rPr lang="fr-FR" sz="1400" b="1" dirty="0">
                <a:solidFill>
                  <a:schemeClr val="accent1"/>
                </a:solidFill>
              </a:rPr>
              <a:t>Slide 3</a:t>
            </a:r>
            <a:r>
              <a:rPr lang="fr-FR" sz="1400" dirty="0">
                <a:solidFill>
                  <a:schemeClr val="accent5"/>
                </a:solidFill>
              </a:rPr>
              <a:t> · Formation, 5 ans d’expérience</a:t>
            </a:r>
          </a:p>
        </p:txBody>
      </p:sp>
      <p:sp>
        <p:nvSpPr>
          <p:cNvPr id="7" name="carte-8"/>
          <p:cNvSpPr/>
          <p:nvPr/>
        </p:nvSpPr>
        <p:spPr>
          <a:xfrm>
            <a:off x="812800" y="3035300"/>
            <a:ext cx="5181600" cy="1016000"/>
          </a:xfrm>
          <a:prstGeom prst="roundRect">
            <a:avLst>
              <a:gd name="adj" fmla="val 2400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" name="pastille-9"/>
          <p:cNvSpPr txBox="1"/>
          <p:nvPr/>
        </p:nvSpPr>
        <p:spPr>
          <a:xfrm>
            <a:off x="1041400" y="3352800"/>
            <a:ext cx="381000" cy="3810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e-10"/>
          <p:cNvSpPr txBox="1"/>
          <p:nvPr/>
        </p:nvSpPr>
        <p:spPr>
          <a:xfrm>
            <a:off x="1600200" y="3035300"/>
            <a:ext cx="4216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Qui es-tu ?</a:t>
            </a:r>
          </a:p>
          <a:p>
            <a:pPr marL="0" indent="0">
              <a:buNone/>
            </a:pPr>
            <a:r>
              <a:rPr lang="fr-FR" sz="1400" b="1" dirty="0">
                <a:solidFill>
                  <a:schemeClr val="accent1"/>
                </a:solidFill>
              </a:rPr>
              <a:t>Slide 4</a:t>
            </a:r>
            <a:r>
              <a:rPr lang="fr-FR" sz="1400" dirty="0">
                <a:solidFill>
                  <a:schemeClr val="accent5"/>
                </a:solidFill>
              </a:rPr>
              <a:t> · Ton parcours, ton profil</a:t>
            </a:r>
          </a:p>
        </p:txBody>
      </p:sp>
      <p:sp>
        <p:nvSpPr>
          <p:cNvPr id="10" name="carte-11"/>
          <p:cNvSpPr/>
          <p:nvPr/>
        </p:nvSpPr>
        <p:spPr>
          <a:xfrm>
            <a:off x="812800" y="4229100"/>
            <a:ext cx="5181600" cy="1016000"/>
          </a:xfrm>
          <a:prstGeom prst="roundRect">
            <a:avLst>
              <a:gd name="adj" fmla="val 1152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pastille-12"/>
          <p:cNvSpPr txBox="1"/>
          <p:nvPr/>
        </p:nvSpPr>
        <p:spPr>
          <a:xfrm>
            <a:off x="1041400" y="4546600"/>
            <a:ext cx="381000" cy="3810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e-13"/>
          <p:cNvSpPr txBox="1"/>
          <p:nvPr/>
        </p:nvSpPr>
        <p:spPr>
          <a:xfrm>
            <a:off x="1600200" y="4229100"/>
            <a:ext cx="4216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Neoply, kézako ?</a:t>
            </a:r>
          </a:p>
          <a:p>
            <a:pPr marL="0" indent="0">
              <a:buNone/>
            </a:pPr>
            <a:r>
              <a:rPr lang="fr-FR" sz="1400" b="1" dirty="0">
                <a:solidFill>
                  <a:schemeClr val="accent1"/>
                </a:solidFill>
              </a:rPr>
              <a:t>Slides 5 à 10</a:t>
            </a:r>
            <a:r>
              <a:rPr lang="fr-FR" sz="1400" dirty="0">
                <a:solidFill>
                  <a:schemeClr val="accent5"/>
                </a:solidFill>
              </a:rPr>
              <a:t> · Présentation et les 5 séances</a:t>
            </a:r>
          </a:p>
        </p:txBody>
      </p:sp>
      <p:sp>
        <p:nvSpPr>
          <p:cNvPr id="15" name="carte-16"/>
          <p:cNvSpPr/>
          <p:nvPr/>
        </p:nvSpPr>
        <p:spPr>
          <a:xfrm>
            <a:off x="812800" y="5422900"/>
            <a:ext cx="5181600" cy="1016000"/>
          </a:xfrm>
          <a:prstGeom prst="roundRect">
            <a:avLst>
              <a:gd name="adj" fmla="val 2400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6" name="pastille-17"/>
          <p:cNvSpPr txBox="1"/>
          <p:nvPr/>
        </p:nvSpPr>
        <p:spPr>
          <a:xfrm>
            <a:off x="1041400" y="5740400"/>
            <a:ext cx="381000" cy="3810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e-18"/>
          <p:cNvSpPr txBox="1"/>
          <p:nvPr/>
        </p:nvSpPr>
        <p:spPr>
          <a:xfrm>
            <a:off x="1600200" y="5422900"/>
            <a:ext cx="4216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/>
              <a:t>Pricing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1400" b="1" dirty="0">
                <a:solidFill>
                  <a:schemeClr val="accent1"/>
                </a:solidFill>
              </a:rPr>
              <a:t>Slides 11 et 12</a:t>
            </a:r>
            <a:r>
              <a:rPr lang="fr-FR" sz="1400" dirty="0">
                <a:solidFill>
                  <a:schemeClr val="accent5"/>
                </a:solidFill>
              </a:rPr>
              <a:t> · Tarifs et séance d’aujourd’hui</a:t>
            </a:r>
          </a:p>
        </p:txBody>
      </p:sp>
      <p:sp>
        <p:nvSpPr>
          <p:cNvPr id="18" name="carte-19"/>
          <p:cNvSpPr/>
          <p:nvPr/>
        </p:nvSpPr>
        <p:spPr>
          <a:xfrm>
            <a:off x="6197600" y="1841500"/>
            <a:ext cx="5181600" cy="1016000"/>
          </a:xfrm>
          <a:prstGeom prst="roundRect">
            <a:avLst>
              <a:gd name="adj" fmla="val 1515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9" name="pastille-20"/>
          <p:cNvSpPr txBox="1"/>
          <p:nvPr/>
        </p:nvSpPr>
        <p:spPr>
          <a:xfrm>
            <a:off x="6426200" y="2159000"/>
            <a:ext cx="381000" cy="3810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texte-21"/>
          <p:cNvSpPr txBox="1"/>
          <p:nvPr/>
        </p:nvSpPr>
        <p:spPr>
          <a:xfrm>
            <a:off x="6985000" y="1841500"/>
            <a:ext cx="4216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/>
              <a:t>What did you expect</a:t>
            </a:r>
            <a:r>
              <a:rPr lang="en-US" b="1" dirty="0">
                <a:solidFill>
                  <a:schemeClr val="tx1"/>
                </a:solidFill>
              </a:rPr>
              <a:t> ?</a:t>
            </a:r>
          </a:p>
          <a:p>
            <a:pPr marL="0" indent="0">
              <a:buNone/>
            </a:pPr>
            <a:r>
              <a:rPr lang="fr-FR" sz="1400" b="1" dirty="0">
                <a:solidFill>
                  <a:schemeClr val="accent1"/>
                </a:solidFill>
              </a:rPr>
              <a:t>Slide 13</a:t>
            </a:r>
            <a:r>
              <a:rPr lang="fr-FR" sz="1400" dirty="0">
                <a:solidFill>
                  <a:schemeClr val="accent5"/>
                </a:solidFill>
              </a:rPr>
              <a:t> · Ton parcours et le poste visé</a:t>
            </a:r>
          </a:p>
        </p:txBody>
      </p:sp>
      <p:sp>
        <p:nvSpPr>
          <p:cNvPr id="21" name="carte-22"/>
          <p:cNvSpPr/>
          <p:nvPr/>
        </p:nvSpPr>
        <p:spPr>
          <a:xfrm>
            <a:off x="6197600" y="3035300"/>
            <a:ext cx="5181600" cy="1016000"/>
          </a:xfrm>
          <a:prstGeom prst="roundRect">
            <a:avLst>
              <a:gd name="adj" fmla="val 1515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2" name="pastille-23"/>
          <p:cNvSpPr txBox="1"/>
          <p:nvPr/>
        </p:nvSpPr>
        <p:spPr>
          <a:xfrm>
            <a:off x="6426200" y="3352800"/>
            <a:ext cx="381000" cy="3810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3" name="texte-24"/>
          <p:cNvSpPr txBox="1"/>
          <p:nvPr/>
        </p:nvSpPr>
        <p:spPr>
          <a:xfrm>
            <a:off x="6984999" y="3035300"/>
            <a:ext cx="439415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Let’s get started !</a:t>
            </a:r>
          </a:p>
          <a:p>
            <a:pPr marL="0" indent="0">
              <a:buNone/>
            </a:pPr>
            <a:r>
              <a:rPr lang="fr-FR" sz="1400" b="1" dirty="0">
                <a:solidFill>
                  <a:schemeClr val="accent1"/>
                </a:solidFill>
              </a:rPr>
              <a:t>Slides 14 et 15</a:t>
            </a:r>
            <a:r>
              <a:rPr lang="fr-FR" sz="1400" dirty="0">
                <a:solidFill>
                  <a:schemeClr val="accent5"/>
                </a:solidFill>
              </a:rPr>
              <a:t> · Revue du CV et de LinkedIn</a:t>
            </a:r>
          </a:p>
        </p:txBody>
      </p:sp>
      <p:sp>
        <p:nvSpPr>
          <p:cNvPr id="24" name="carte-25"/>
          <p:cNvSpPr/>
          <p:nvPr/>
        </p:nvSpPr>
        <p:spPr>
          <a:xfrm>
            <a:off x="6197600" y="4229100"/>
            <a:ext cx="5181600" cy="1016000"/>
          </a:xfrm>
          <a:prstGeom prst="roundRect">
            <a:avLst>
              <a:gd name="adj" fmla="val 1515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5" name="pastille-26"/>
          <p:cNvSpPr txBox="1"/>
          <p:nvPr/>
        </p:nvSpPr>
        <p:spPr>
          <a:xfrm>
            <a:off x="6426200" y="4546600"/>
            <a:ext cx="381000" cy="3810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26" name="texte-27"/>
          <p:cNvSpPr txBox="1"/>
          <p:nvPr/>
        </p:nvSpPr>
        <p:spPr>
          <a:xfrm>
            <a:off x="6984999" y="4229100"/>
            <a:ext cx="4709161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You can be/do what you want to do</a:t>
            </a:r>
          </a:p>
          <a:p>
            <a:pPr marL="0" indent="0">
              <a:buNone/>
            </a:pPr>
            <a:r>
              <a:rPr lang="fr-FR" sz="1400" b="1" dirty="0">
                <a:solidFill>
                  <a:schemeClr val="accent1"/>
                </a:solidFill>
              </a:rPr>
              <a:t>Slides 16 à 18</a:t>
            </a:r>
            <a:r>
              <a:rPr lang="fr-FR" sz="1400" dirty="0">
                <a:solidFill>
                  <a:schemeClr val="accent5"/>
                </a:solidFill>
              </a:rPr>
              <a:t> · Priorités, plan d’actions, conseils</a:t>
            </a:r>
          </a:p>
        </p:txBody>
      </p:sp>
      <p:sp>
        <p:nvSpPr>
          <p:cNvPr id="27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5"/>
                </a:solidFill>
              </a:rPr>
              <a:t>Huit étapes pour cette séance découverte gratuite</a:t>
            </a:r>
          </a:p>
        </p:txBody>
      </p:sp>
      <p:pic>
        <p:nvPicPr>
          <p:cNvPr id="28" name="Copied Picture 28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00" name="Agenda 400"/>
          <p:cNvSpPr/>
          <p:nvPr/>
        </p:nvSpPr>
        <p:spPr>
          <a:xfrm>
            <a:off x="6197600" y="5422900"/>
            <a:ext cx="5181600" cy="1016000"/>
          </a:xfrm>
          <a:prstGeom prst="roundRect">
            <a:avLst>
              <a:gd name="adj" fmla="val 1515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01" name="Agenda 401"/>
          <p:cNvSpPr txBox="1"/>
          <p:nvPr/>
        </p:nvSpPr>
        <p:spPr>
          <a:xfrm>
            <a:off x="6426200" y="5740400"/>
            <a:ext cx="381000" cy="3810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402" name="Agenda 402"/>
          <p:cNvSpPr txBox="1"/>
          <p:nvPr/>
        </p:nvSpPr>
        <p:spPr>
          <a:xfrm>
            <a:off x="6985000" y="5422900"/>
            <a:ext cx="4216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What else ?</a:t>
            </a:r>
          </a:p>
          <a:p>
            <a:pPr marL="0" indent="0">
              <a:buNone/>
            </a:pPr>
            <a:r>
              <a:rPr lang="fr-FR" sz="1400" b="1" dirty="0">
                <a:solidFill>
                  <a:schemeClr val="accent1"/>
                </a:solidFill>
              </a:rPr>
              <a:t>Slide 19</a:t>
            </a:r>
            <a:r>
              <a:rPr lang="fr-FR" sz="1400" dirty="0">
                <a:solidFill>
                  <a:schemeClr val="accent5"/>
                </a:solidFill>
              </a:rPr>
              <a:t> · Tes questions et la suite</a:t>
            </a:r>
          </a:p>
        </p:txBody>
      </p:sp>
    </p:spTree>
    <p:extLst>
      <p:ext uri="{BB962C8B-B14F-4D97-AF65-F5344CB8AC3E}">
        <p14:creationId xmlns:p14="http://schemas.microsoft.com/office/powerpoint/2010/main" val="8532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300" dirty="0">
                <a:solidFill>
                  <a:schemeClr val="accent1"/>
                </a:solidFill>
              </a:rPr>
              <a:t>NEOPLY · QUI SUIS-JE ?</a:t>
            </a:r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dirty="0">
                <a:solidFill>
                  <a:schemeClr val="tx1"/>
                </a:solidFill>
              </a:rPr>
              <a:t>Mon parcours</a:t>
            </a:r>
          </a:p>
        </p:txBody>
      </p:sp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5"/>
                </a:solidFill>
              </a:rPr>
              <a:t>Ingénieur informatique, 5 ans d'expérience du génie logiciel à l'IA</a:t>
            </a:r>
          </a:p>
        </p:txBody>
      </p:sp>
      <p:sp>
        <p:nvSpPr>
          <p:cNvPr id="50" name="carte-p50"/>
          <p:cNvSpPr/>
          <p:nvPr/>
        </p:nvSpPr>
        <p:spPr>
          <a:xfrm>
            <a:off x="812800" y="1752600"/>
            <a:ext cx="3429000" cy="1193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51" name="texte-p51"/>
          <p:cNvSpPr txBox="1"/>
          <p:nvPr/>
        </p:nvSpPr>
        <p:spPr>
          <a:xfrm>
            <a:off x="990600" y="1866900"/>
            <a:ext cx="31242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b="1" dirty="0">
                <a:solidFill>
                  <a:schemeClr val="accent1"/>
                </a:solidFill>
              </a:rPr>
              <a:t>Formation</a:t>
            </a:r>
          </a:p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🎓 </a:t>
            </a:r>
            <a:r>
              <a:rPr lang="fr-FR" sz="1000" b="1" dirty="0">
                <a:solidFill>
                  <a:schemeClr val="accent1"/>
                </a:solidFill>
              </a:rPr>
              <a:t>2015–2018  </a:t>
            </a:r>
            <a:r>
              <a:rPr lang="fr-FR" sz="1000" dirty="0">
                <a:solidFill>
                  <a:schemeClr val="tx1"/>
                </a:solidFill>
              </a:rPr>
              <a:t>Prépa MP, Janson de Sailly (Paris)</a:t>
            </a:r>
          </a:p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🎓 </a:t>
            </a:r>
            <a:r>
              <a:rPr lang="fr-FR" sz="1000" b="1" dirty="0">
                <a:solidFill>
                  <a:schemeClr val="accent1"/>
                </a:solidFill>
              </a:rPr>
              <a:t>2018–2021  </a:t>
            </a:r>
            <a:r>
              <a:rPr lang="fr-FR" sz="1000" dirty="0">
                <a:solidFill>
                  <a:schemeClr val="tx1"/>
                </a:solidFill>
              </a:rPr>
              <a:t>Cycle ingénieur, ESILV (La Défense)</a:t>
            </a:r>
          </a:p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🎓 </a:t>
            </a:r>
            <a:r>
              <a:rPr lang="fr-FR" sz="1000" b="1" dirty="0">
                <a:solidFill>
                  <a:schemeClr val="accent1"/>
                </a:solidFill>
              </a:rPr>
              <a:t>2020–2021  </a:t>
            </a:r>
            <a:r>
              <a:rPr lang="fr-FR" sz="1000" dirty="0">
                <a:solidFill>
                  <a:schemeClr val="tx1"/>
                </a:solidFill>
              </a:rPr>
              <a:t>Maîtrise, UQAC (à distance)</a:t>
            </a:r>
          </a:p>
        </p:txBody>
      </p:sp>
      <p:sp>
        <p:nvSpPr>
          <p:cNvPr id="52" name="carte-p52"/>
          <p:cNvSpPr/>
          <p:nvPr/>
        </p:nvSpPr>
        <p:spPr>
          <a:xfrm>
            <a:off x="4381500" y="1752600"/>
            <a:ext cx="3429000" cy="1193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53" name="texte-p53"/>
          <p:cNvSpPr txBox="1"/>
          <p:nvPr/>
        </p:nvSpPr>
        <p:spPr>
          <a:xfrm>
            <a:off x="4559300" y="1866900"/>
            <a:ext cx="31242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b="1" dirty="0">
                <a:solidFill>
                  <a:schemeClr val="accent1"/>
                </a:solidFill>
              </a:rPr>
              <a:t>Certifications</a:t>
            </a:r>
          </a:p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🛡️ </a:t>
            </a:r>
            <a:r>
              <a:rPr lang="fr-FR" sz="1000" b="1" dirty="0">
                <a:solidFill>
                  <a:schemeClr val="accent1"/>
                </a:solidFill>
              </a:rPr>
              <a:t>2021  </a:t>
            </a:r>
            <a:r>
              <a:rPr lang="fr-FR" sz="1000" dirty="0">
                <a:solidFill>
                  <a:schemeClr val="tx1"/>
                </a:solidFill>
              </a:rPr>
              <a:t>SecNumAcadémie (ANSSI)</a:t>
            </a:r>
          </a:p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🛡️ </a:t>
            </a:r>
            <a:r>
              <a:rPr lang="fr-FR" sz="1000" b="1" dirty="0">
                <a:solidFill>
                  <a:schemeClr val="accent1"/>
                </a:solidFill>
              </a:rPr>
              <a:t>2025–2026  </a:t>
            </a:r>
            <a:r>
              <a:rPr lang="fr-FR" sz="1000" dirty="0">
                <a:solidFill>
                  <a:schemeClr val="tx1"/>
                </a:solidFill>
              </a:rPr>
              <a:t>Google Cybersecurity Certificate, EBIOS Risk Manager, Cyberini</a:t>
            </a:r>
          </a:p>
        </p:txBody>
      </p:sp>
      <p:sp>
        <p:nvSpPr>
          <p:cNvPr id="54" name="carte-p54"/>
          <p:cNvSpPr/>
          <p:nvPr/>
        </p:nvSpPr>
        <p:spPr>
          <a:xfrm>
            <a:off x="7950200" y="1752600"/>
            <a:ext cx="3429000" cy="1193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55" name="texte-p55"/>
          <p:cNvSpPr txBox="1"/>
          <p:nvPr/>
        </p:nvSpPr>
        <p:spPr>
          <a:xfrm>
            <a:off x="8128000" y="1866900"/>
            <a:ext cx="31242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b="1" dirty="0">
                <a:solidFill>
                  <a:schemeClr val="accent1"/>
                </a:solidFill>
              </a:rPr>
              <a:t>Langues</a:t>
            </a:r>
          </a:p>
          <a:p>
            <a:pPr marL="26670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b="1" dirty="0">
                <a:solidFill>
                  <a:schemeClr val="accent1"/>
                </a:solidFill>
              </a:rPr>
              <a:t>2019  </a:t>
            </a:r>
            <a:r>
              <a:rPr lang="fr-FR" sz="1000" dirty="0">
                <a:solidFill>
                  <a:schemeClr val="tx1"/>
                </a:solidFill>
              </a:rPr>
              <a:t>TOEFL 550/677</a:t>
            </a:r>
          </a:p>
          <a:p>
            <a:pPr marL="26670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b="1" dirty="0">
                <a:solidFill>
                  <a:schemeClr val="accent1"/>
                </a:solidFill>
              </a:rPr>
              <a:t>2020  </a:t>
            </a:r>
            <a:r>
              <a:rPr lang="fr-FR" sz="1000" dirty="0">
                <a:solidFill>
                  <a:schemeClr val="tx1"/>
                </a:solidFill>
              </a:rPr>
              <a:t>TOEIC 810/990</a:t>
            </a:r>
          </a:p>
          <a:p>
            <a:pPr marL="26670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b="1" dirty="0">
                <a:solidFill>
                  <a:schemeClr val="accent1"/>
                </a:solidFill>
              </a:rPr>
              <a:t>2025  </a:t>
            </a:r>
            <a:r>
              <a:rPr lang="fr-FR" sz="1000" dirty="0">
                <a:solidFill>
                  <a:schemeClr val="tx1"/>
                </a:solidFill>
              </a:rPr>
              <a:t>Voltaire 841/1000</a:t>
            </a:r>
          </a:p>
        </p:txBody>
      </p:sp>
      <p:sp>
        <p:nvSpPr>
          <p:cNvPr id="56" name="carte-p56"/>
          <p:cNvSpPr/>
          <p:nvPr/>
        </p:nvSpPr>
        <p:spPr>
          <a:xfrm>
            <a:off x="812800" y="3048000"/>
            <a:ext cx="10566400" cy="2057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57" name="texte-p57"/>
          <p:cNvSpPr txBox="1"/>
          <p:nvPr/>
        </p:nvSpPr>
        <p:spPr>
          <a:xfrm>
            <a:off x="990600" y="315214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b="1" dirty="0">
                <a:solidFill>
                  <a:schemeClr val="accent1"/>
                </a:solidFill>
              </a:rPr>
              <a:t>Parcours — 5 ans</a:t>
            </a:r>
          </a:p>
        </p:txBody>
      </p:sp>
      <p:sp>
        <p:nvSpPr>
          <p:cNvPr id="58" name="carte-p58"/>
          <p:cNvSpPr/>
          <p:nvPr/>
        </p:nvSpPr>
        <p:spPr>
          <a:xfrm>
            <a:off x="812800" y="5207000"/>
            <a:ext cx="3175000" cy="1295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carte-competences">
            <a:extLst>
              <a:ext uri="{FF2B5EF4-FFF2-40B4-BE49-F238E27FC236}">
                <a16:creationId xmlns:a16="http://schemas.microsoft.com/office/drawing/2014/main" id="{F54873F1-0029-4756-AA17-E4E2E116D65F}"/>
              </a:ext>
            </a:extLst>
          </p:cNvPr>
          <p:cNvSpPr/>
          <p:nvPr/>
        </p:nvSpPr>
        <p:spPr>
          <a:xfrm>
            <a:off x="4140200" y="5207000"/>
            <a:ext cx="4292600" cy="1295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62" name="texte-p62"/>
          <p:cNvSpPr txBox="1"/>
          <p:nvPr/>
        </p:nvSpPr>
        <p:spPr>
          <a:xfrm>
            <a:off x="4318000" y="5308600"/>
            <a:ext cx="3962400" cy="1092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💻 </a:t>
            </a:r>
            <a:r>
              <a:rPr lang="fr-FR" sz="1000" b="1" dirty="0">
                <a:solidFill>
                  <a:schemeClr val="tx1"/>
                </a:solidFill>
              </a:rPr>
              <a:t>Informatique &amp; sciences — </a:t>
            </a:r>
            <a:r>
              <a:rPr lang="fr-FR" sz="1000" dirty="0">
                <a:solidFill>
                  <a:schemeClr val="tx1"/>
                </a:solidFill>
              </a:rPr>
              <a:t>programmation, génie logiciel, cybersécurité, data viz, IA</a:t>
            </a:r>
          </a:p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🧑‍🏫 </a:t>
            </a:r>
            <a:r>
              <a:rPr lang="fr-FR" sz="1000" b="1" dirty="0">
                <a:solidFill>
                  <a:schemeClr val="tx1"/>
                </a:solidFill>
              </a:rPr>
              <a:t>Support &amp; pédagogie — </a:t>
            </a:r>
            <a:r>
              <a:rPr lang="fr-FR" sz="1000" dirty="0">
                <a:solidFill>
                  <a:schemeClr val="tx1"/>
                </a:solidFill>
              </a:rPr>
              <a:t>assistance technique à Soft Concept, démonstrations au salon de l'E-Marketing, cours de tennis et de mathématiques</a:t>
            </a:r>
          </a:p>
        </p:txBody>
      </p:sp>
      <p:sp>
        <p:nvSpPr>
          <p:cNvPr id="77" name="carte-hobbies"/>
          <p:cNvSpPr/>
          <p:nvPr/>
        </p:nvSpPr>
        <p:spPr>
          <a:xfrm>
            <a:off x="8585200" y="5207000"/>
            <a:ext cx="2794000" cy="1295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60" name="texte-p60"/>
          <p:cNvSpPr txBox="1"/>
          <p:nvPr/>
        </p:nvSpPr>
        <p:spPr>
          <a:xfrm>
            <a:off x="990600" y="5321300"/>
            <a:ext cx="28194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b="1" dirty="0">
                <a:solidFill>
                  <a:schemeClr val="accent1"/>
                </a:solidFill>
              </a:rPr>
              <a:t>Expériences supplémentaires</a:t>
            </a:r>
          </a:p>
        </p:txBody>
      </p:sp>
      <p:sp>
        <p:nvSpPr>
          <p:cNvPr id="61" name="texte-p61"/>
          <p:cNvSpPr txBox="1"/>
          <p:nvPr/>
        </p:nvSpPr>
        <p:spPr>
          <a:xfrm>
            <a:off x="990600" y="5600700"/>
            <a:ext cx="2997200" cy="8382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🎾 Arbitre &amp; professeur assistant de </a:t>
            </a:r>
            <a:r>
              <a:rPr lang="fr-FR" sz="1000" b="1" dirty="0">
                <a:solidFill>
                  <a:schemeClr val="tx1"/>
                </a:solidFill>
              </a:rPr>
              <a:t>tennis</a:t>
            </a:r>
          </a:p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📐 Professeur particulier de </a:t>
            </a:r>
            <a:r>
              <a:rPr lang="fr-FR" sz="1000" b="1" dirty="0">
                <a:solidFill>
                  <a:schemeClr val="tx1"/>
                </a:solidFill>
              </a:rPr>
              <a:t>mathématiques</a:t>
            </a:r>
          </a:p>
        </p:txBody>
      </p:sp>
      <p:sp>
        <p:nvSpPr>
          <p:cNvPr id="70" name="parcours-avant"/>
          <p:cNvSpPr txBox="1"/>
          <p:nvPr/>
        </p:nvSpPr>
        <p:spPr>
          <a:xfrm>
            <a:off x="965200" y="3390900"/>
            <a:ext cx="3759200" cy="157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fr-FR" sz="10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fr-FR" sz="1000" dirty="0"/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💼 </a:t>
            </a:r>
            <a:r>
              <a:rPr lang="fr-FR" sz="1000" dirty="0">
                <a:solidFill>
                  <a:schemeClr val="accent5"/>
                </a:solidFill>
              </a:rPr>
              <a:t>mars → août 2020 </a:t>
            </a:r>
            <a:r>
              <a:rPr lang="fr-FR" sz="1000" b="1" dirty="0">
                <a:solidFill>
                  <a:schemeClr val="tx1"/>
                </a:solidFill>
              </a:rPr>
              <a:t>Cyberprotect · Lyon</a:t>
            </a:r>
            <a:r>
              <a:rPr lang="fr-FR" sz="1000" dirty="0">
                <a:solidFill>
                  <a:schemeClr val="tx1"/>
                </a:solidFill>
              </a:rPr>
              <a:t> · Cybersécurité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💼 </a:t>
            </a:r>
            <a:r>
              <a:rPr lang="fr-FR" sz="1000" dirty="0">
                <a:solidFill>
                  <a:schemeClr val="accent5"/>
                </a:solidFill>
              </a:rPr>
              <a:t>juin → août 2019 </a:t>
            </a:r>
            <a:r>
              <a:rPr lang="fr-FR" sz="1000" b="1" dirty="0">
                <a:solidFill>
                  <a:schemeClr val="tx1"/>
                </a:solidFill>
              </a:rPr>
              <a:t>Galadrim · Paris</a:t>
            </a:r>
            <a:r>
              <a:rPr lang="fr-FR" sz="1000" dirty="0">
                <a:solidFill>
                  <a:schemeClr val="tx1"/>
                </a:solidFill>
              </a:rPr>
              <a:t> · Génie logiciel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💼 </a:t>
            </a:r>
            <a:r>
              <a:rPr lang="fr-FR" sz="1000" dirty="0">
                <a:solidFill>
                  <a:schemeClr val="accent5"/>
                </a:solidFill>
              </a:rPr>
              <a:t>oct. 2018 → avr. 2019 </a:t>
            </a:r>
            <a:r>
              <a:rPr lang="fr-FR" sz="1000" b="1" dirty="0">
                <a:solidFill>
                  <a:schemeClr val="tx1"/>
                </a:solidFill>
              </a:rPr>
              <a:t>CGI · Paris</a:t>
            </a:r>
            <a:r>
              <a:rPr lang="fr-FR" sz="1000" dirty="0">
                <a:solidFill>
                  <a:schemeClr val="tx1"/>
                </a:solidFill>
              </a:rPr>
              <a:t> · Transformation digitale</a:t>
            </a:r>
          </a:p>
        </p:txBody>
      </p:sp>
      <p:sp>
        <p:nvSpPr>
          <p:cNvPr id="71" name="parcours-apres"/>
          <p:cNvSpPr txBox="1"/>
          <p:nvPr/>
        </p:nvSpPr>
        <p:spPr>
          <a:xfrm>
            <a:off x="6819900" y="3749040"/>
            <a:ext cx="4381500" cy="157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💼 </a:t>
            </a:r>
            <a:r>
              <a:rPr lang="fr-FR" sz="1000" dirty="0">
                <a:solidFill>
                  <a:schemeClr val="accent5"/>
                </a:solidFill>
              </a:rPr>
              <a:t>déc. 2025 → août 2026 </a:t>
            </a:r>
            <a:r>
              <a:rPr lang="fr-FR" sz="1000" b="1" dirty="0">
                <a:solidFill>
                  <a:schemeClr val="tx1"/>
                </a:solidFill>
              </a:rPr>
              <a:t>ChapsVision · Paris</a:t>
            </a:r>
            <a:r>
              <a:rPr lang="fr-FR" sz="1000" dirty="0">
                <a:solidFill>
                  <a:schemeClr val="tx1"/>
                </a:solidFill>
              </a:rPr>
              <a:t> · IA &amp; Data intelligence 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💼 </a:t>
            </a:r>
            <a:r>
              <a:rPr lang="fr-FR" sz="1000" dirty="0">
                <a:solidFill>
                  <a:schemeClr val="accent5"/>
                </a:solidFill>
              </a:rPr>
              <a:t>déc. 2024 → août 2025 </a:t>
            </a:r>
            <a:r>
              <a:rPr lang="fr-FR" sz="1000" b="1" dirty="0">
                <a:solidFill>
                  <a:schemeClr val="tx1"/>
                </a:solidFill>
              </a:rPr>
              <a:t>Astek/Alstom · Lyon</a:t>
            </a:r>
            <a:r>
              <a:rPr lang="fr-FR" sz="1000" dirty="0">
                <a:solidFill>
                  <a:schemeClr val="tx1"/>
                </a:solidFill>
              </a:rPr>
              <a:t> · Ferroviaire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💼 </a:t>
            </a:r>
            <a:r>
              <a:rPr lang="fr-FR" sz="1000" dirty="0">
                <a:solidFill>
                  <a:schemeClr val="accent5"/>
                </a:solidFill>
              </a:rPr>
              <a:t>juin → sept. 2024 </a:t>
            </a:r>
            <a:r>
              <a:rPr lang="fr-FR" sz="1000" b="1" dirty="0">
                <a:solidFill>
                  <a:schemeClr val="tx1"/>
                </a:solidFill>
              </a:rPr>
              <a:t>Bassetti · Lyon</a:t>
            </a:r>
            <a:r>
              <a:rPr lang="fr-FR" sz="1000" dirty="0">
                <a:solidFill>
                  <a:schemeClr val="tx1"/>
                </a:solidFill>
              </a:rPr>
              <a:t> · Industrie &amp; Qualité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💼 </a:t>
            </a:r>
            <a:r>
              <a:rPr lang="fr-FR" sz="1000" dirty="0">
                <a:solidFill>
                  <a:schemeClr val="accent5"/>
                </a:solidFill>
              </a:rPr>
              <a:t>juil. 2021 → mai 2024 </a:t>
            </a:r>
            <a:r>
              <a:rPr lang="fr-FR" sz="1000" b="1" dirty="0">
                <a:solidFill>
                  <a:schemeClr val="tx1"/>
                </a:solidFill>
              </a:rPr>
              <a:t>Soft Concept · Lyon</a:t>
            </a:r>
            <a:r>
              <a:rPr lang="fr-FR" sz="1000" dirty="0">
                <a:solidFill>
                  <a:schemeClr val="tx1"/>
                </a:solidFill>
              </a:rPr>
              <a:t> · Enquêtes &amp; Data Viz</a:t>
            </a:r>
          </a:p>
        </p:txBody>
      </p:sp>
      <p:sp>
        <p:nvSpPr>
          <p:cNvPr id="120" name="zone-diplome"/>
          <p:cNvSpPr/>
          <p:nvPr/>
        </p:nvSpPr>
        <p:spPr>
          <a:xfrm>
            <a:off x="4927600" y="3124200"/>
            <a:ext cx="1651000" cy="1828800"/>
          </a:xfrm>
          <a:prstGeom prst="roundRect">
            <a:avLst>
              <a:gd name="adj" fmla="val 10000"/>
            </a:avLst>
          </a:prstGeom>
          <a:solidFill>
            <a:schemeClr val="accent1">
              <a:lumMod val="12000"/>
              <a:lumOff val="88000"/>
            </a:schemeClr>
          </a:solidFill>
          <a:ln w="9525">
            <a:solidFill>
              <a:schemeClr val="accent1">
                <a:lumMod val="30000"/>
                <a:lumOff val="70000"/>
              </a:schemeClr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72" name="diplome-icone"/>
          <p:cNvSpPr txBox="1"/>
          <p:nvPr/>
        </p:nvSpPr>
        <p:spPr>
          <a:xfrm>
            <a:off x="4927600" y="3327400"/>
            <a:ext cx="16510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2200" dirty="0">
                <a:solidFill>
                  <a:schemeClr val="tx1"/>
                </a:solidFill>
              </a:rPr>
              <a:t>  🎓</a:t>
            </a:r>
          </a:p>
        </p:txBody>
      </p:sp>
      <p:sp>
        <p:nvSpPr>
          <p:cNvPr id="73" name="diplome-annee"/>
          <p:cNvSpPr txBox="1"/>
          <p:nvPr/>
        </p:nvSpPr>
        <p:spPr>
          <a:xfrm>
            <a:off x="4927600" y="3759200"/>
            <a:ext cx="1651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b="1" dirty="0">
                <a:solidFill>
                  <a:schemeClr val="accent2"/>
                </a:solidFill>
              </a:rPr>
              <a:t>2021</a:t>
            </a:r>
          </a:p>
        </p:txBody>
      </p:sp>
      <p:sp>
        <p:nvSpPr>
          <p:cNvPr id="74" name="pastille-74"/>
          <p:cNvSpPr/>
          <p:nvPr/>
        </p:nvSpPr>
        <p:spPr>
          <a:xfrm>
            <a:off x="5003800" y="4038600"/>
            <a:ext cx="711200" cy="2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000" b="1" dirty="0">
                <a:solidFill>
                  <a:schemeClr val="bg1"/>
                </a:solidFill>
              </a:rPr>
              <a:t>ESILV</a:t>
            </a:r>
          </a:p>
        </p:txBody>
      </p:sp>
      <p:sp>
        <p:nvSpPr>
          <p:cNvPr id="75" name="pastille-75"/>
          <p:cNvSpPr/>
          <p:nvPr/>
        </p:nvSpPr>
        <p:spPr>
          <a:xfrm>
            <a:off x="5791200" y="4038600"/>
            <a:ext cx="711200" cy="2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000" b="1" dirty="0">
                <a:solidFill>
                  <a:schemeClr val="bg1"/>
                </a:solidFill>
              </a:rPr>
              <a:t>UQAC</a:t>
            </a:r>
          </a:p>
        </p:txBody>
      </p:sp>
      <p:sp>
        <p:nvSpPr>
          <p:cNvPr id="76" name="diplome-texte"/>
          <p:cNvSpPr txBox="1"/>
          <p:nvPr/>
        </p:nvSpPr>
        <p:spPr>
          <a:xfrm>
            <a:off x="4927600" y="4357370"/>
            <a:ext cx="16510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Double diplôme</a:t>
            </a: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fr-FR" sz="1000" b="1" dirty="0">
                <a:solidFill>
                  <a:schemeClr val="accent2"/>
                </a:solidFill>
              </a:rPr>
              <a:t>Ingénieur informatique</a:t>
            </a:r>
          </a:p>
        </p:txBody>
      </p:sp>
      <p:sp>
        <p:nvSpPr>
          <p:cNvPr id="78" name="texte-hobbies"/>
          <p:cNvSpPr txBox="1"/>
          <p:nvPr/>
        </p:nvSpPr>
        <p:spPr>
          <a:xfrm>
            <a:off x="8763000" y="5321300"/>
            <a:ext cx="2438400" cy="111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b="1" dirty="0">
                <a:solidFill>
                  <a:schemeClr val="accent1"/>
                </a:solidFill>
              </a:rPr>
              <a:t>Hobbies</a:t>
            </a:r>
          </a:p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🎾 Tennis</a:t>
            </a:r>
          </a:p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♟️ Échecs</a:t>
            </a:r>
          </a:p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✈️ Voyages</a:t>
            </a:r>
          </a:p>
          <a:p>
            <a:pPr marL="177800" indent="-177800">
              <a:lnSpc>
                <a:spcPct val="100000"/>
              </a:lnSpc>
              <a:spcBef>
                <a:spcPts val="300"/>
              </a:spcBef>
              <a:buNone/>
            </a:pPr>
            <a:r>
              <a:rPr lang="fr-FR" sz="1000" dirty="0">
                <a:solidFill>
                  <a:schemeClr val="tx1"/>
                </a:solidFill>
              </a:rPr>
              <a:t>🎵 Musique</a:t>
            </a:r>
          </a:p>
        </p:txBody>
      </p:sp>
      <p:sp>
        <p:nvSpPr>
          <p:cNvPr id="121" name="drapeau-uk"/>
          <p:cNvSpPr/>
          <p:nvPr/>
        </p:nvSpPr>
        <p:spPr>
          <a:xfrm>
            <a:off x="8128000" y="2095500"/>
            <a:ext cx="190500" cy="12700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cxnSp>
        <p:nvCxnSpPr>
          <p:cNvPr id="122" name="uk"/>
          <p:cNvCxnSpPr/>
          <p:nvPr/>
        </p:nvCxnSpPr>
        <p:spPr>
          <a:xfrm>
            <a:off x="8128000" y="2095500"/>
            <a:ext cx="190500" cy="127000"/>
          </a:xfrm>
          <a:prstGeom prst="line">
            <a:avLst/>
          </a:prstGeom>
          <a:ln w="27940" cap="flat">
            <a:solidFill>
              <a:srgbClr val="FFFFFF"/>
            </a:solidFill>
          </a:ln>
        </p:spPr>
      </p:cxnSp>
      <p:cxnSp>
        <p:nvCxnSpPr>
          <p:cNvPr id="123" name="uk"/>
          <p:cNvCxnSpPr/>
          <p:nvPr/>
        </p:nvCxnSpPr>
        <p:spPr>
          <a:xfrm flipV="1">
            <a:off x="8128000" y="2095500"/>
            <a:ext cx="190500" cy="127000"/>
          </a:xfrm>
          <a:prstGeom prst="line">
            <a:avLst/>
          </a:prstGeom>
          <a:ln w="27940" cap="flat">
            <a:solidFill>
              <a:srgbClr val="FFFFFF"/>
            </a:solidFill>
          </a:ln>
        </p:spPr>
      </p:cxnSp>
      <p:cxnSp>
        <p:nvCxnSpPr>
          <p:cNvPr id="124" name="uk"/>
          <p:cNvCxnSpPr/>
          <p:nvPr/>
        </p:nvCxnSpPr>
        <p:spPr>
          <a:xfrm>
            <a:off x="8128000" y="2095500"/>
            <a:ext cx="190500" cy="127000"/>
          </a:xfrm>
          <a:prstGeom prst="line">
            <a:avLst/>
          </a:prstGeom>
          <a:ln w="8890" cap="flat">
            <a:solidFill>
              <a:srgbClr val="C8102E"/>
            </a:solidFill>
          </a:ln>
        </p:spPr>
      </p:cxnSp>
      <p:cxnSp>
        <p:nvCxnSpPr>
          <p:cNvPr id="125" name="uk"/>
          <p:cNvCxnSpPr/>
          <p:nvPr/>
        </p:nvCxnSpPr>
        <p:spPr>
          <a:xfrm flipV="1">
            <a:off x="8128000" y="2095500"/>
            <a:ext cx="190500" cy="127000"/>
          </a:xfrm>
          <a:prstGeom prst="line">
            <a:avLst/>
          </a:prstGeom>
          <a:ln w="8890" cap="flat">
            <a:solidFill>
              <a:srgbClr val="C8102E"/>
            </a:solidFill>
          </a:ln>
        </p:spPr>
      </p:cxnSp>
      <p:sp>
        <p:nvSpPr>
          <p:cNvPr id="126" name="uk"/>
          <p:cNvSpPr/>
          <p:nvPr/>
        </p:nvSpPr>
        <p:spPr>
          <a:xfrm>
            <a:off x="8201660" y="2095500"/>
            <a:ext cx="4318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127" name="uk"/>
          <p:cNvSpPr/>
          <p:nvPr/>
        </p:nvSpPr>
        <p:spPr>
          <a:xfrm>
            <a:off x="8128000" y="2137410"/>
            <a:ext cx="190500" cy="43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128" name="uk"/>
          <p:cNvSpPr/>
          <p:nvPr/>
        </p:nvSpPr>
        <p:spPr>
          <a:xfrm>
            <a:off x="8210550" y="2095500"/>
            <a:ext cx="25400" cy="127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129" name="uk"/>
          <p:cNvSpPr/>
          <p:nvPr/>
        </p:nvSpPr>
        <p:spPr>
          <a:xfrm>
            <a:off x="8128000" y="2146300"/>
            <a:ext cx="190500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130" name="uk-bord"/>
          <p:cNvSpPr/>
          <p:nvPr/>
        </p:nvSpPr>
        <p:spPr>
          <a:xfrm>
            <a:off x="8128000" y="2095500"/>
            <a:ext cx="190500" cy="127000"/>
          </a:xfrm>
          <a:prstGeom prst="rect">
            <a:avLst/>
          </a:prstGeom>
          <a:noFill/>
          <a:ln w="3175">
            <a:solidFill>
              <a:srgbClr val="BFC7D5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131" name="drapeau-uk"/>
          <p:cNvSpPr/>
          <p:nvPr/>
        </p:nvSpPr>
        <p:spPr>
          <a:xfrm>
            <a:off x="8128000" y="2286000"/>
            <a:ext cx="190500" cy="127000"/>
          </a:xfrm>
          <a:prstGeom prst="rect">
            <a:avLst/>
          </a:prstGeom>
          <a:solidFill>
            <a:srgbClr val="012169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cxnSp>
        <p:nvCxnSpPr>
          <p:cNvPr id="132" name="uk"/>
          <p:cNvCxnSpPr/>
          <p:nvPr/>
        </p:nvCxnSpPr>
        <p:spPr>
          <a:xfrm>
            <a:off x="8128000" y="2286000"/>
            <a:ext cx="190500" cy="127000"/>
          </a:xfrm>
          <a:prstGeom prst="line">
            <a:avLst/>
          </a:prstGeom>
          <a:ln w="27940" cap="flat">
            <a:solidFill>
              <a:srgbClr val="FFFFFF"/>
            </a:solidFill>
          </a:ln>
        </p:spPr>
      </p:cxnSp>
      <p:cxnSp>
        <p:nvCxnSpPr>
          <p:cNvPr id="133" name="uk"/>
          <p:cNvCxnSpPr/>
          <p:nvPr/>
        </p:nvCxnSpPr>
        <p:spPr>
          <a:xfrm flipV="1">
            <a:off x="8128000" y="2286000"/>
            <a:ext cx="190500" cy="127000"/>
          </a:xfrm>
          <a:prstGeom prst="line">
            <a:avLst/>
          </a:prstGeom>
          <a:ln w="27940" cap="flat">
            <a:solidFill>
              <a:srgbClr val="FFFFFF"/>
            </a:solidFill>
          </a:ln>
        </p:spPr>
      </p:cxnSp>
      <p:cxnSp>
        <p:nvCxnSpPr>
          <p:cNvPr id="134" name="uk"/>
          <p:cNvCxnSpPr/>
          <p:nvPr/>
        </p:nvCxnSpPr>
        <p:spPr>
          <a:xfrm>
            <a:off x="8128000" y="2286000"/>
            <a:ext cx="190500" cy="127000"/>
          </a:xfrm>
          <a:prstGeom prst="line">
            <a:avLst/>
          </a:prstGeom>
          <a:ln w="8890" cap="flat">
            <a:solidFill>
              <a:srgbClr val="C8102E"/>
            </a:solidFill>
          </a:ln>
        </p:spPr>
      </p:cxnSp>
      <p:cxnSp>
        <p:nvCxnSpPr>
          <p:cNvPr id="135" name="uk"/>
          <p:cNvCxnSpPr/>
          <p:nvPr/>
        </p:nvCxnSpPr>
        <p:spPr>
          <a:xfrm flipV="1">
            <a:off x="8128000" y="2286000"/>
            <a:ext cx="190500" cy="127000"/>
          </a:xfrm>
          <a:prstGeom prst="line">
            <a:avLst/>
          </a:prstGeom>
          <a:ln w="8890" cap="flat">
            <a:solidFill>
              <a:srgbClr val="C8102E"/>
            </a:solidFill>
          </a:ln>
        </p:spPr>
      </p:cxnSp>
      <p:sp>
        <p:nvSpPr>
          <p:cNvPr id="136" name="uk"/>
          <p:cNvSpPr/>
          <p:nvPr/>
        </p:nvSpPr>
        <p:spPr>
          <a:xfrm>
            <a:off x="8201660" y="2286000"/>
            <a:ext cx="4318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137" name="uk"/>
          <p:cNvSpPr/>
          <p:nvPr/>
        </p:nvSpPr>
        <p:spPr>
          <a:xfrm>
            <a:off x="8128000" y="2327910"/>
            <a:ext cx="190500" cy="431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138" name="uk"/>
          <p:cNvSpPr/>
          <p:nvPr/>
        </p:nvSpPr>
        <p:spPr>
          <a:xfrm>
            <a:off x="8210550" y="2286000"/>
            <a:ext cx="25400" cy="127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139" name="uk"/>
          <p:cNvSpPr/>
          <p:nvPr/>
        </p:nvSpPr>
        <p:spPr>
          <a:xfrm>
            <a:off x="8128000" y="2336800"/>
            <a:ext cx="190500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140" name="uk-bord"/>
          <p:cNvSpPr/>
          <p:nvPr/>
        </p:nvSpPr>
        <p:spPr>
          <a:xfrm>
            <a:off x="8128000" y="2286000"/>
            <a:ext cx="190500" cy="127000"/>
          </a:xfrm>
          <a:prstGeom prst="rect">
            <a:avLst/>
          </a:prstGeom>
          <a:noFill/>
          <a:ln w="3175">
            <a:solidFill>
              <a:srgbClr val="BFC7D5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141" name="drapeau-fr"/>
          <p:cNvSpPr/>
          <p:nvPr/>
        </p:nvSpPr>
        <p:spPr>
          <a:xfrm>
            <a:off x="8128000" y="2476500"/>
            <a:ext cx="63500" cy="127000"/>
          </a:xfrm>
          <a:prstGeom prst="rect">
            <a:avLst/>
          </a:prstGeom>
          <a:solidFill>
            <a:srgbClr val="002395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142" name="fr"/>
          <p:cNvSpPr/>
          <p:nvPr/>
        </p:nvSpPr>
        <p:spPr>
          <a:xfrm>
            <a:off x="8191500" y="2476500"/>
            <a:ext cx="6350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143" name="fr"/>
          <p:cNvSpPr/>
          <p:nvPr/>
        </p:nvSpPr>
        <p:spPr>
          <a:xfrm>
            <a:off x="8255000" y="2476500"/>
            <a:ext cx="63500" cy="127000"/>
          </a:xfrm>
          <a:prstGeom prst="rect">
            <a:avLst/>
          </a:prstGeom>
          <a:solidFill>
            <a:srgbClr val="ED2939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144" name="fr-bord"/>
          <p:cNvSpPr/>
          <p:nvPr/>
        </p:nvSpPr>
        <p:spPr>
          <a:xfrm>
            <a:off x="8128000" y="2476500"/>
            <a:ext cx="190500" cy="127000"/>
          </a:xfrm>
          <a:prstGeom prst="rect">
            <a:avLst/>
          </a:prstGeom>
          <a:noFill/>
          <a:ln w="3175">
            <a:solidFill>
              <a:srgbClr val="BFC7D5"/>
            </a:solidFill>
          </a:ln>
        </p:spPr>
        <p:txBody>
          <a:bodyPr/>
          <a:lstStyle/>
          <a:p>
            <a:endParaRPr lang="fr-FR" dirty="0"/>
          </a:p>
        </p:txBody>
      </p:sp>
      <p:pic>
        <p:nvPicPr>
          <p:cNvPr id="64" name="Copied Picture 64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mon-emoji">
            <a:extLst>
              <a:ext uri="{FF2B5EF4-FFF2-40B4-BE49-F238E27FC236}">
                <a16:creationId xmlns:a16="http://schemas.microsoft.com/office/drawing/2014/main" id="{71F4A5CF-6256-0B17-7178-E59606F1C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9420" y="5600670"/>
            <a:ext cx="431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7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QUI ES-TU ?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Ton parcours</a:t>
            </a:r>
            <a:endParaRPr lang="en-US" sz="3000" dirty="0"/>
          </a:p>
        </p:txBody>
      </p:sp>
      <p:sp>
        <p:nvSpPr>
          <p:cNvPr id="8" name="colonne-1"/>
          <p:cNvSpPr/>
          <p:nvPr/>
        </p:nvSpPr>
        <p:spPr>
          <a:xfrm>
            <a:off x="812810" y="1841510"/>
            <a:ext cx="3386650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Formation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9" name="colonne-2"/>
          <p:cNvSpPr/>
          <p:nvPr/>
        </p:nvSpPr>
        <p:spPr>
          <a:xfrm>
            <a:off x="4402660" y="1841510"/>
            <a:ext cx="3386650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Expériences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10" name="colonne-3"/>
          <p:cNvSpPr/>
          <p:nvPr/>
        </p:nvSpPr>
        <p:spPr>
          <a:xfrm>
            <a:off x="7992510" y="1841510"/>
            <a:ext cx="3386650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Objectif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5"/>
                </a:solidFill>
              </a:rPr>
              <a:t>Ton profil, tes expériences, tes hobbies…</a:t>
            </a:r>
          </a:p>
        </p:txBody>
      </p:sp>
      <p:pic>
        <p:nvPicPr>
          <p:cNvPr id="7" name="Copied Picture 7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32839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PRÉSENTATION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Neoply ?</a:t>
            </a:r>
            <a:endParaRPr lang="en-US" sz="3000" dirty="0"/>
          </a:p>
        </p:txBody>
      </p:sp>
      <p:sp>
        <p:nvSpPr>
          <p:cNvPr id="4" name="carte-28"/>
          <p:cNvSpPr/>
          <p:nvPr/>
        </p:nvSpPr>
        <p:spPr>
          <a:xfrm>
            <a:off x="812810" y="1841500"/>
            <a:ext cx="6413510" cy="3771900"/>
          </a:xfrm>
          <a:prstGeom prst="roundRect">
            <a:avLst>
              <a:gd name="adj" fmla="val 409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texte-29"/>
          <p:cNvSpPr txBox="1"/>
          <p:nvPr/>
        </p:nvSpPr>
        <p:spPr>
          <a:xfrm>
            <a:off x="1092159" y="2019270"/>
            <a:ext cx="5079949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Mentorat</a:t>
            </a:r>
            <a:endParaRPr lang="en-US" sz="1600" dirty="0"/>
          </a:p>
        </p:txBody>
      </p:sp>
      <p:sp>
        <p:nvSpPr>
          <p:cNvPr id="6" name="pastille-30"/>
          <p:cNvSpPr txBox="1"/>
          <p:nvPr/>
        </p:nvSpPr>
        <p:spPr>
          <a:xfrm>
            <a:off x="1092159" y="2476500"/>
            <a:ext cx="254020" cy="2540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e-31"/>
          <p:cNvSpPr txBox="1"/>
          <p:nvPr/>
        </p:nvSpPr>
        <p:spPr>
          <a:xfrm>
            <a:off x="1498610" y="2400300"/>
            <a:ext cx="558799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Accompagnement </a:t>
            </a:r>
            <a:r>
              <a:rPr lang="en-US" sz="1600" dirty="0">
                <a:solidFill>
                  <a:schemeClr val="accent2"/>
                </a:solidFill>
              </a:rPr>
              <a:t>personnalisé</a:t>
            </a:r>
            <a:r>
              <a:rPr lang="en-US" sz="1600" dirty="0">
                <a:solidFill>
                  <a:schemeClr val="tx1"/>
                </a:solidFill>
              </a:rPr>
              <a:t> et </a:t>
            </a:r>
            <a:r>
              <a:rPr lang="en-US" sz="1600" dirty="0">
                <a:solidFill>
                  <a:schemeClr val="accent2"/>
                </a:solidFill>
              </a:rPr>
              <a:t>freemium</a:t>
            </a:r>
            <a:endParaRPr lang="en-US" sz="1600" dirty="0"/>
          </a:p>
        </p:txBody>
      </p:sp>
      <p:sp>
        <p:nvSpPr>
          <p:cNvPr id="8" name="pastille-32"/>
          <p:cNvSpPr txBox="1"/>
          <p:nvPr/>
        </p:nvSpPr>
        <p:spPr>
          <a:xfrm>
            <a:off x="1092159" y="2857500"/>
            <a:ext cx="254020" cy="2540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e-33"/>
          <p:cNvSpPr txBox="1"/>
          <p:nvPr/>
        </p:nvSpPr>
        <p:spPr>
          <a:xfrm>
            <a:off x="1498610" y="2781300"/>
            <a:ext cx="558799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CV clair et impactant</a:t>
            </a:r>
            <a:endParaRPr lang="en-US" sz="1600" dirty="0"/>
          </a:p>
        </p:txBody>
      </p:sp>
      <p:sp>
        <p:nvSpPr>
          <p:cNvPr id="10" name="pastille-34"/>
          <p:cNvSpPr txBox="1"/>
          <p:nvPr/>
        </p:nvSpPr>
        <p:spPr>
          <a:xfrm>
            <a:off x="1092159" y="3238500"/>
            <a:ext cx="254020" cy="2540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e-35"/>
          <p:cNvSpPr txBox="1"/>
          <p:nvPr/>
        </p:nvSpPr>
        <p:spPr>
          <a:xfrm>
            <a:off x="1498610" y="3162300"/>
            <a:ext cx="558799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Profil LinkedIn professionnel et optimisé</a:t>
            </a:r>
            <a:endParaRPr lang="en-US" sz="1600" dirty="0"/>
          </a:p>
        </p:txBody>
      </p:sp>
      <p:sp>
        <p:nvSpPr>
          <p:cNvPr id="12" name="pastille-36"/>
          <p:cNvSpPr txBox="1"/>
          <p:nvPr/>
        </p:nvSpPr>
        <p:spPr>
          <a:xfrm>
            <a:off x="1092159" y="3619500"/>
            <a:ext cx="254020" cy="2540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e-37"/>
          <p:cNvSpPr txBox="1"/>
          <p:nvPr/>
        </p:nvSpPr>
        <p:spPr>
          <a:xfrm>
            <a:off x="1498610" y="3543300"/>
            <a:ext cx="558799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Candidatures ciblées et efficaces</a:t>
            </a:r>
            <a:endParaRPr lang="en-US" sz="1600" dirty="0"/>
          </a:p>
        </p:txBody>
      </p:sp>
      <p:sp>
        <p:nvSpPr>
          <p:cNvPr id="14" name="pastille-38"/>
          <p:cNvSpPr txBox="1"/>
          <p:nvPr/>
        </p:nvSpPr>
        <p:spPr>
          <a:xfrm>
            <a:off x="1092159" y="4000500"/>
            <a:ext cx="254020" cy="2540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e-39"/>
          <p:cNvSpPr txBox="1"/>
          <p:nvPr/>
        </p:nvSpPr>
        <p:spPr>
          <a:xfrm>
            <a:off x="1498610" y="3924300"/>
            <a:ext cx="558799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Sérénité pour rentrer dans le monde du travail</a:t>
            </a:r>
            <a:endParaRPr lang="en-US" sz="1600" dirty="0"/>
          </a:p>
        </p:txBody>
      </p:sp>
      <p:sp>
        <p:nvSpPr>
          <p:cNvPr id="16" name="pastille-40"/>
          <p:cNvSpPr txBox="1"/>
          <p:nvPr/>
        </p:nvSpPr>
        <p:spPr>
          <a:xfrm>
            <a:off x="1092159" y="4381500"/>
            <a:ext cx="254020" cy="2540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e-41"/>
          <p:cNvSpPr txBox="1"/>
          <p:nvPr/>
        </p:nvSpPr>
        <p:spPr>
          <a:xfrm>
            <a:off x="1498610" y="4305300"/>
            <a:ext cx="558799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Préparation pour les entretiens RH et/ou techniques</a:t>
            </a:r>
            <a:endParaRPr lang="en-US" sz="1600" dirty="0"/>
          </a:p>
        </p:txBody>
      </p:sp>
      <p:sp>
        <p:nvSpPr>
          <p:cNvPr id="18" name="pastille-42"/>
          <p:cNvSpPr txBox="1"/>
          <p:nvPr/>
        </p:nvSpPr>
        <p:spPr>
          <a:xfrm>
            <a:off x="1092159" y="4762500"/>
            <a:ext cx="254020" cy="2540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e-43"/>
          <p:cNvSpPr txBox="1"/>
          <p:nvPr/>
        </p:nvSpPr>
        <p:spPr>
          <a:xfrm>
            <a:off x="1498610" y="4686300"/>
            <a:ext cx="558799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Cooptation éventuelle</a:t>
            </a:r>
            <a:endParaRPr lang="en-US" sz="1600" dirty="0"/>
          </a:p>
        </p:txBody>
      </p:sp>
      <p:sp>
        <p:nvSpPr>
          <p:cNvPr id="20" name="pastille-44"/>
          <p:cNvSpPr txBox="1"/>
          <p:nvPr/>
        </p:nvSpPr>
        <p:spPr>
          <a:xfrm>
            <a:off x="1092159" y="5143500"/>
            <a:ext cx="254020" cy="2540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e-45"/>
          <p:cNvSpPr txBox="1"/>
          <p:nvPr/>
        </p:nvSpPr>
        <p:spPr>
          <a:xfrm>
            <a:off x="1498610" y="5067300"/>
            <a:ext cx="558799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Autonomie et proactivité tout au long de la carrière</a:t>
            </a:r>
            <a:endParaRPr lang="en-US" sz="1600" dirty="0"/>
          </a:p>
        </p:txBody>
      </p:sp>
      <p:sp>
        <p:nvSpPr>
          <p:cNvPr id="22" name="carte-46"/>
          <p:cNvSpPr/>
          <p:nvPr/>
        </p:nvSpPr>
        <p:spPr>
          <a:xfrm>
            <a:off x="7378659" y="1841500"/>
            <a:ext cx="4000500" cy="37719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3" name="texte-47"/>
          <p:cNvSpPr txBox="1"/>
          <p:nvPr/>
        </p:nvSpPr>
        <p:spPr>
          <a:xfrm>
            <a:off x="7632680" y="2019270"/>
            <a:ext cx="3492459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Séances</a:t>
            </a:r>
            <a:endParaRPr lang="en-US" sz="1600" dirty="0"/>
          </a:p>
        </p:txBody>
      </p:sp>
      <p:sp>
        <p:nvSpPr>
          <p:cNvPr id="24" name="chiffre-48"/>
          <p:cNvSpPr/>
          <p:nvPr/>
        </p:nvSpPr>
        <p:spPr>
          <a:xfrm>
            <a:off x="7632680" y="2425720"/>
            <a:ext cx="1714500" cy="1079541"/>
          </a:xfrm>
          <a:prstGeom prst="roundRect">
            <a:avLst>
              <a:gd name="adj" fmla="val 12705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5" name="texte-49"/>
          <p:cNvSpPr txBox="1"/>
          <p:nvPr/>
        </p:nvSpPr>
        <p:spPr>
          <a:xfrm>
            <a:off x="7632680" y="2527310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30 min</a:t>
            </a:r>
            <a:endParaRPr lang="en-US" sz="3200" dirty="0"/>
          </a:p>
        </p:txBody>
      </p:sp>
      <p:sp>
        <p:nvSpPr>
          <p:cNvPr id="26" name="texte-50"/>
          <p:cNvSpPr txBox="1"/>
          <p:nvPr/>
        </p:nvSpPr>
        <p:spPr>
          <a:xfrm>
            <a:off x="7632680" y="3111520"/>
            <a:ext cx="17145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1 créneau</a:t>
            </a:r>
            <a:endParaRPr lang="en-US" sz="1400" dirty="0"/>
          </a:p>
        </p:txBody>
      </p:sp>
      <p:sp>
        <p:nvSpPr>
          <p:cNvPr id="27" name="chiffre-51"/>
          <p:cNvSpPr/>
          <p:nvPr/>
        </p:nvSpPr>
        <p:spPr>
          <a:xfrm>
            <a:off x="9410639" y="2425720"/>
            <a:ext cx="1714500" cy="1079541"/>
          </a:xfrm>
          <a:prstGeom prst="roundRect">
            <a:avLst>
              <a:gd name="adj" fmla="val 12705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8" name="texte-52"/>
          <p:cNvSpPr txBox="1"/>
          <p:nvPr/>
        </p:nvSpPr>
        <p:spPr>
          <a:xfrm>
            <a:off x="9410639" y="2527310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60 min</a:t>
            </a:r>
            <a:endParaRPr lang="en-US" sz="3200" dirty="0"/>
          </a:p>
        </p:txBody>
      </p:sp>
      <p:sp>
        <p:nvSpPr>
          <p:cNvPr id="29" name="texte-53"/>
          <p:cNvSpPr txBox="1"/>
          <p:nvPr/>
        </p:nvSpPr>
        <p:spPr>
          <a:xfrm>
            <a:off x="9410639" y="3111520"/>
            <a:ext cx="17145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2 créneaux</a:t>
            </a:r>
            <a:endParaRPr lang="en-US" sz="1400" dirty="0"/>
          </a:p>
        </p:txBody>
      </p:sp>
      <p:sp>
        <p:nvSpPr>
          <p:cNvPr id="30" name="texte-54"/>
          <p:cNvSpPr txBox="1"/>
          <p:nvPr/>
        </p:nvSpPr>
        <p:spPr>
          <a:xfrm>
            <a:off x="7632680" y="3683000"/>
            <a:ext cx="3492459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Où ?</a:t>
            </a:r>
            <a:endParaRPr lang="en-US" sz="1600" dirty="0"/>
          </a:p>
        </p:txBody>
      </p:sp>
      <p:sp>
        <p:nvSpPr>
          <p:cNvPr id="31" name="pastille-texte-55"/>
          <p:cNvSpPr txBox="1"/>
          <p:nvPr/>
        </p:nvSpPr>
        <p:spPr>
          <a:xfrm>
            <a:off x="7632680" y="4064000"/>
            <a:ext cx="1714500" cy="584200"/>
          </a:xfrm>
          <a:prstGeom prst="roundRect">
            <a:avLst>
              <a:gd name="adj" fmla="val 6000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Google Meet</a:t>
            </a:r>
            <a:endParaRPr lang="en-US" sz="1600" dirty="0"/>
          </a:p>
        </p:txBody>
      </p:sp>
      <p:sp>
        <p:nvSpPr>
          <p:cNvPr id="32" name="pastille-texte-56"/>
          <p:cNvSpPr txBox="1"/>
          <p:nvPr/>
        </p:nvSpPr>
        <p:spPr>
          <a:xfrm>
            <a:off x="9410639" y="4064000"/>
            <a:ext cx="1714500" cy="584200"/>
          </a:xfrm>
          <a:prstGeom prst="roundRect">
            <a:avLst>
              <a:gd name="adj" fmla="val 6000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Zoom</a:t>
            </a:r>
            <a:endParaRPr lang="en-US" sz="1600" dirty="0"/>
          </a:p>
        </p:txBody>
      </p:sp>
      <p:sp>
        <p:nvSpPr>
          <p:cNvPr id="33" name="pastille-texte-57"/>
          <p:cNvSpPr txBox="1"/>
          <p:nvPr/>
        </p:nvSpPr>
        <p:spPr>
          <a:xfrm>
            <a:off x="7632680" y="4749800"/>
            <a:ext cx="1714500" cy="584200"/>
          </a:xfrm>
          <a:prstGeom prst="roundRect">
            <a:avLst>
              <a:gd name="adj" fmla="val 6000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Par téléphone</a:t>
            </a:r>
            <a:endParaRPr lang="en-US" sz="1600" dirty="0"/>
          </a:p>
        </p:txBody>
      </p:sp>
      <p:sp>
        <p:nvSpPr>
          <p:cNvPr id="34" name="pastille-texte-58"/>
          <p:cNvSpPr txBox="1"/>
          <p:nvPr/>
        </p:nvSpPr>
        <p:spPr>
          <a:xfrm>
            <a:off x="9410639" y="4749800"/>
            <a:ext cx="1714500" cy="584200"/>
          </a:xfrm>
          <a:prstGeom prst="roundRect">
            <a:avLst>
              <a:gd name="adj" fmla="val 6000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À domicile</a:t>
            </a:r>
            <a:endParaRPr lang="en-US" sz="1600" dirty="0"/>
          </a:p>
        </p:txBody>
      </p:sp>
      <p:sp>
        <p:nvSpPr>
          <p:cNvPr id="35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5"/>
                </a:solidFill>
              </a:rPr>
              <a:t>Quoi, combien de temps et où ?</a:t>
            </a:r>
          </a:p>
        </p:txBody>
      </p:sp>
      <p:pic>
        <p:nvPicPr>
          <p:cNvPr id="36" name="Copied Picture 36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00" name="th-201"/>
          <p:cNvSpPr/>
          <p:nvPr/>
        </p:nvSpPr>
        <p:spPr>
          <a:xfrm>
            <a:off x="812800" y="5765800"/>
            <a:ext cx="10566400" cy="558800"/>
          </a:xfrm>
          <a:prstGeom prst="roundRect">
            <a:avLst>
              <a:gd name="adj" fmla="val 409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01" name="th-202"/>
          <p:cNvSpPr txBox="1"/>
          <p:nvPr/>
        </p:nvSpPr>
        <p:spPr>
          <a:xfrm>
            <a:off x="1092200" y="5765800"/>
            <a:ext cx="177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 thématiques</a:t>
            </a:r>
            <a:endParaRPr lang="en-US" sz="1600" dirty="0"/>
          </a:p>
        </p:txBody>
      </p:sp>
      <p:sp>
        <p:nvSpPr>
          <p:cNvPr id="202" name="th-203"/>
          <p:cNvSpPr txBox="1"/>
          <p:nvPr/>
        </p:nvSpPr>
        <p:spPr>
          <a:xfrm>
            <a:off x="2997200" y="5852160"/>
            <a:ext cx="1016000" cy="406400"/>
          </a:xfrm>
          <a:prstGeom prst="roundRect">
            <a:avLst>
              <a:gd name="adj" fmla="val 6000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CV</a:t>
            </a:r>
            <a:endParaRPr lang="en-US" sz="1600" dirty="0"/>
          </a:p>
        </p:txBody>
      </p:sp>
      <p:sp>
        <p:nvSpPr>
          <p:cNvPr id="203" name="th-204"/>
          <p:cNvSpPr txBox="1"/>
          <p:nvPr/>
        </p:nvSpPr>
        <p:spPr>
          <a:xfrm>
            <a:off x="4114800" y="5852160"/>
            <a:ext cx="1333500" cy="406400"/>
          </a:xfrm>
          <a:prstGeom prst="roundRect">
            <a:avLst>
              <a:gd name="adj" fmla="val 6000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LinkedIn</a:t>
            </a:r>
            <a:endParaRPr lang="en-US" sz="1600" dirty="0"/>
          </a:p>
        </p:txBody>
      </p:sp>
      <p:sp>
        <p:nvSpPr>
          <p:cNvPr id="204" name="th-205"/>
          <p:cNvSpPr txBox="1"/>
          <p:nvPr/>
        </p:nvSpPr>
        <p:spPr>
          <a:xfrm>
            <a:off x="5549900" y="5852160"/>
            <a:ext cx="1524000" cy="406400"/>
          </a:xfrm>
          <a:prstGeom prst="roundRect">
            <a:avLst>
              <a:gd name="adj" fmla="val 6000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Job dating</a:t>
            </a:r>
            <a:endParaRPr lang="en-US" sz="1600" dirty="0"/>
          </a:p>
        </p:txBody>
      </p:sp>
      <p:sp>
        <p:nvSpPr>
          <p:cNvPr id="205" name="th-206"/>
          <p:cNvSpPr txBox="1"/>
          <p:nvPr/>
        </p:nvSpPr>
        <p:spPr>
          <a:xfrm>
            <a:off x="7175500" y="5852160"/>
            <a:ext cx="1714500" cy="406400"/>
          </a:xfrm>
          <a:prstGeom prst="roundRect">
            <a:avLst>
              <a:gd name="adj" fmla="val 6000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Entretien RH</a:t>
            </a:r>
            <a:endParaRPr lang="en-US" sz="1600" dirty="0"/>
          </a:p>
        </p:txBody>
      </p:sp>
      <p:sp>
        <p:nvSpPr>
          <p:cNvPr id="206" name="th-207"/>
          <p:cNvSpPr txBox="1"/>
          <p:nvPr/>
        </p:nvSpPr>
        <p:spPr>
          <a:xfrm>
            <a:off x="8991600" y="5852160"/>
            <a:ext cx="2133600" cy="406400"/>
          </a:xfrm>
          <a:prstGeom prst="roundRect">
            <a:avLst>
              <a:gd name="adj" fmla="val 6000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Entretien tech.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4991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SÉANCE 1 SUR 5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Séance 1 – CV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Un CV clair, ciblé et lisible par les ATS · 30 à 60 min</a:t>
            </a:r>
            <a:endParaRPr lang="en-US" sz="1400" dirty="0"/>
          </a:p>
        </p:txBody>
      </p:sp>
      <p:sp>
        <p:nvSpPr>
          <p:cNvPr id="5" name="carte-59"/>
          <p:cNvSpPr/>
          <p:nvPr/>
        </p:nvSpPr>
        <p:spPr>
          <a:xfrm>
            <a:off x="812810" y="184151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accent4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pastille-60"/>
          <p:cNvSpPr txBox="1"/>
          <p:nvPr/>
        </p:nvSpPr>
        <p:spPr>
          <a:xfrm>
            <a:off x="1041410" y="2006559"/>
            <a:ext cx="381030" cy="38103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e-61"/>
          <p:cNvSpPr txBox="1"/>
          <p:nvPr/>
        </p:nvSpPr>
        <p:spPr>
          <a:xfrm>
            <a:off x="1600200" y="198123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Séance 1</a:t>
            </a:r>
            <a:endParaRPr lang="en-US" sz="1200" dirty="0"/>
          </a:p>
        </p:txBody>
      </p:sp>
      <p:sp>
        <p:nvSpPr>
          <p:cNvPr id="8" name="texte-62"/>
          <p:cNvSpPr txBox="1"/>
          <p:nvPr/>
        </p:nvSpPr>
        <p:spPr>
          <a:xfrm>
            <a:off x="1600200" y="217170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CV</a:t>
            </a:r>
            <a:endParaRPr lang="en-US" sz="1800" dirty="0"/>
          </a:p>
        </p:txBody>
      </p:sp>
      <p:sp>
        <p:nvSpPr>
          <p:cNvPr id="9" name="pastille-texte-63"/>
          <p:cNvSpPr txBox="1"/>
          <p:nvPr/>
        </p:nvSpPr>
        <p:spPr>
          <a:xfrm>
            <a:off x="4203680" y="2070110"/>
            <a:ext cx="1206459" cy="254020"/>
          </a:xfrm>
          <a:prstGeom prst="roundRect">
            <a:avLst>
              <a:gd name="adj" fmla="val 1799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En cours</a:t>
            </a:r>
            <a:endParaRPr lang="en-US" sz="1200" dirty="0"/>
          </a:p>
        </p:txBody>
      </p:sp>
      <p:sp>
        <p:nvSpPr>
          <p:cNvPr id="10" name="carte-64"/>
          <p:cNvSpPr/>
          <p:nvPr/>
        </p:nvSpPr>
        <p:spPr>
          <a:xfrm>
            <a:off x="812810" y="2692359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pastille-65"/>
          <p:cNvSpPr txBox="1"/>
          <p:nvPr/>
        </p:nvSpPr>
        <p:spPr>
          <a:xfrm>
            <a:off x="1041410" y="2857500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e-66"/>
          <p:cNvSpPr txBox="1"/>
          <p:nvPr/>
        </p:nvSpPr>
        <p:spPr>
          <a:xfrm>
            <a:off x="1600200" y="283208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2</a:t>
            </a:r>
            <a:endParaRPr lang="en-US" sz="1200" dirty="0"/>
          </a:p>
        </p:txBody>
      </p:sp>
      <p:sp>
        <p:nvSpPr>
          <p:cNvPr id="13" name="texte-67"/>
          <p:cNvSpPr txBox="1"/>
          <p:nvPr/>
        </p:nvSpPr>
        <p:spPr>
          <a:xfrm>
            <a:off x="1600200" y="3022549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LinkedIn</a:t>
            </a:r>
            <a:endParaRPr lang="en-US" sz="1800" dirty="0"/>
          </a:p>
        </p:txBody>
      </p:sp>
      <p:sp>
        <p:nvSpPr>
          <p:cNvPr id="14" name="carte-68"/>
          <p:cNvSpPr/>
          <p:nvPr/>
        </p:nvSpPr>
        <p:spPr>
          <a:xfrm>
            <a:off x="812810" y="354330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5" name="pastille-69"/>
          <p:cNvSpPr txBox="1"/>
          <p:nvPr/>
        </p:nvSpPr>
        <p:spPr>
          <a:xfrm>
            <a:off x="1041410" y="3708349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e-70"/>
          <p:cNvSpPr txBox="1"/>
          <p:nvPr/>
        </p:nvSpPr>
        <p:spPr>
          <a:xfrm>
            <a:off x="1600200" y="368302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3</a:t>
            </a:r>
            <a:endParaRPr lang="en-US" sz="1200" dirty="0"/>
          </a:p>
        </p:txBody>
      </p:sp>
      <p:sp>
        <p:nvSpPr>
          <p:cNvPr id="17" name="texte-71"/>
          <p:cNvSpPr txBox="1"/>
          <p:nvPr/>
        </p:nvSpPr>
        <p:spPr>
          <a:xfrm>
            <a:off x="1600200" y="387349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Job dating</a:t>
            </a:r>
            <a:endParaRPr lang="en-US" sz="1800" dirty="0"/>
          </a:p>
        </p:txBody>
      </p:sp>
      <p:sp>
        <p:nvSpPr>
          <p:cNvPr id="18" name="carte-72"/>
          <p:cNvSpPr/>
          <p:nvPr/>
        </p:nvSpPr>
        <p:spPr>
          <a:xfrm>
            <a:off x="812810" y="4394149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9" name="pastille-73"/>
          <p:cNvSpPr txBox="1"/>
          <p:nvPr/>
        </p:nvSpPr>
        <p:spPr>
          <a:xfrm>
            <a:off x="1041410" y="4559290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e-74"/>
          <p:cNvSpPr txBox="1"/>
          <p:nvPr/>
        </p:nvSpPr>
        <p:spPr>
          <a:xfrm>
            <a:off x="1600200" y="453387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4</a:t>
            </a:r>
            <a:endParaRPr lang="en-US" sz="1200" dirty="0"/>
          </a:p>
        </p:txBody>
      </p:sp>
      <p:sp>
        <p:nvSpPr>
          <p:cNvPr id="21" name="texte-75"/>
          <p:cNvSpPr txBox="1"/>
          <p:nvPr/>
        </p:nvSpPr>
        <p:spPr>
          <a:xfrm>
            <a:off x="1600200" y="472443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Entretien RH</a:t>
            </a:r>
            <a:endParaRPr lang="en-US" sz="1800" dirty="0"/>
          </a:p>
        </p:txBody>
      </p:sp>
      <p:sp>
        <p:nvSpPr>
          <p:cNvPr id="22" name="carte-76"/>
          <p:cNvSpPr/>
          <p:nvPr/>
        </p:nvSpPr>
        <p:spPr>
          <a:xfrm>
            <a:off x="812810" y="524509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3" name="pastille-77"/>
          <p:cNvSpPr txBox="1"/>
          <p:nvPr/>
        </p:nvSpPr>
        <p:spPr>
          <a:xfrm>
            <a:off x="1041410" y="5410230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e-78"/>
          <p:cNvSpPr txBox="1"/>
          <p:nvPr/>
        </p:nvSpPr>
        <p:spPr>
          <a:xfrm>
            <a:off x="1600200" y="538481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5</a:t>
            </a:r>
            <a:endParaRPr lang="en-US" sz="1200" dirty="0"/>
          </a:p>
        </p:txBody>
      </p:sp>
      <p:sp>
        <p:nvSpPr>
          <p:cNvPr id="25" name="texte-79"/>
          <p:cNvSpPr txBox="1"/>
          <p:nvPr/>
        </p:nvSpPr>
        <p:spPr>
          <a:xfrm>
            <a:off x="1600200" y="557528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Entretien technique</a:t>
            </a:r>
            <a:endParaRPr lang="en-US" sz="1800" dirty="0"/>
          </a:p>
        </p:txBody>
      </p:sp>
      <p:sp>
        <p:nvSpPr>
          <p:cNvPr id="26" name="carte-80"/>
          <p:cNvSpPr/>
          <p:nvPr/>
        </p:nvSpPr>
        <p:spPr>
          <a:xfrm>
            <a:off x="5892759" y="1841510"/>
            <a:ext cx="5486400" cy="4127510"/>
          </a:xfrm>
          <a:prstGeom prst="roundRect">
            <a:avLst>
              <a:gd name="adj" fmla="val 553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7" name="texte-81"/>
          <p:cNvSpPr txBox="1"/>
          <p:nvPr/>
        </p:nvSpPr>
        <p:spPr>
          <a:xfrm>
            <a:off x="6172200" y="2070110"/>
            <a:ext cx="444499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 programme</a:t>
            </a:r>
            <a:endParaRPr lang="en-US" sz="1600" dirty="0"/>
          </a:p>
        </p:txBody>
      </p:sp>
      <p:sp>
        <p:nvSpPr>
          <p:cNvPr id="28" name="pastille-82"/>
          <p:cNvSpPr txBox="1"/>
          <p:nvPr/>
        </p:nvSpPr>
        <p:spPr>
          <a:xfrm>
            <a:off x="6172200" y="2692359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e-83"/>
          <p:cNvSpPr txBox="1"/>
          <p:nvPr/>
        </p:nvSpPr>
        <p:spPr>
          <a:xfrm>
            <a:off x="6680149" y="260348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Relecture complète du CV</a:t>
            </a:r>
            <a:endParaRPr lang="en-US" sz="1700" dirty="0"/>
          </a:p>
        </p:txBody>
      </p:sp>
      <p:sp>
        <p:nvSpPr>
          <p:cNvPr id="30" name="pastille-84"/>
          <p:cNvSpPr txBox="1"/>
          <p:nvPr/>
        </p:nvSpPr>
        <p:spPr>
          <a:xfrm>
            <a:off x="6172200" y="350517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1" name="texte-85"/>
          <p:cNvSpPr txBox="1"/>
          <p:nvPr/>
        </p:nvSpPr>
        <p:spPr>
          <a:xfrm>
            <a:off x="6680149" y="341629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Mise en valeur des expériences, projets et compétences</a:t>
            </a:r>
            <a:endParaRPr lang="en-US" sz="1700" dirty="0"/>
          </a:p>
        </p:txBody>
      </p:sp>
      <p:sp>
        <p:nvSpPr>
          <p:cNvPr id="32" name="pastille-86"/>
          <p:cNvSpPr txBox="1"/>
          <p:nvPr/>
        </p:nvSpPr>
        <p:spPr>
          <a:xfrm>
            <a:off x="6172200" y="431798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exte-87"/>
          <p:cNvSpPr txBox="1"/>
          <p:nvPr/>
        </p:nvSpPr>
        <p:spPr>
          <a:xfrm>
            <a:off x="6680149" y="422910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Adaptation au poste ou au stage visé</a:t>
            </a:r>
            <a:endParaRPr lang="en-US" sz="1700" dirty="0"/>
          </a:p>
        </p:txBody>
      </p:sp>
      <p:sp>
        <p:nvSpPr>
          <p:cNvPr id="34" name="pastille-88"/>
          <p:cNvSpPr txBox="1"/>
          <p:nvPr/>
        </p:nvSpPr>
        <p:spPr>
          <a:xfrm>
            <a:off x="6172200" y="513079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e-89"/>
          <p:cNvSpPr txBox="1"/>
          <p:nvPr/>
        </p:nvSpPr>
        <p:spPr>
          <a:xfrm>
            <a:off x="6680149" y="504191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Conseils pour passer les ATS</a:t>
            </a:r>
            <a:endParaRPr lang="en-US" sz="1700" dirty="0"/>
          </a:p>
        </p:txBody>
      </p:sp>
      <p:pic>
        <p:nvPicPr>
          <p:cNvPr id="36" name="Copied Picture 36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77822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SÉANCE 2 SUR 5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Séance 2 – LinkedIn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Un profil qui attire les recruteurs · 30 à 60 min</a:t>
            </a:r>
            <a:endParaRPr lang="en-US" sz="1400" dirty="0"/>
          </a:p>
        </p:txBody>
      </p:sp>
      <p:sp>
        <p:nvSpPr>
          <p:cNvPr id="5" name="carte-90"/>
          <p:cNvSpPr/>
          <p:nvPr/>
        </p:nvSpPr>
        <p:spPr>
          <a:xfrm>
            <a:off x="812810" y="184151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pastille-91"/>
          <p:cNvSpPr txBox="1"/>
          <p:nvPr/>
        </p:nvSpPr>
        <p:spPr>
          <a:xfrm>
            <a:off x="1041410" y="2006559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e-92"/>
          <p:cNvSpPr txBox="1"/>
          <p:nvPr/>
        </p:nvSpPr>
        <p:spPr>
          <a:xfrm>
            <a:off x="1600200" y="198123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1</a:t>
            </a:r>
            <a:endParaRPr lang="en-US" sz="1200" dirty="0"/>
          </a:p>
        </p:txBody>
      </p:sp>
      <p:sp>
        <p:nvSpPr>
          <p:cNvPr id="8" name="texte-93"/>
          <p:cNvSpPr txBox="1"/>
          <p:nvPr/>
        </p:nvSpPr>
        <p:spPr>
          <a:xfrm>
            <a:off x="1600200" y="217170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CV</a:t>
            </a:r>
            <a:endParaRPr lang="en-US" sz="1800" dirty="0"/>
          </a:p>
        </p:txBody>
      </p:sp>
      <p:sp>
        <p:nvSpPr>
          <p:cNvPr id="9" name="carte-94"/>
          <p:cNvSpPr/>
          <p:nvPr/>
        </p:nvSpPr>
        <p:spPr>
          <a:xfrm>
            <a:off x="812810" y="2692359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accent4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" name="pastille-95"/>
          <p:cNvSpPr txBox="1"/>
          <p:nvPr/>
        </p:nvSpPr>
        <p:spPr>
          <a:xfrm>
            <a:off x="1041410" y="2857500"/>
            <a:ext cx="381030" cy="38103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e-96"/>
          <p:cNvSpPr txBox="1"/>
          <p:nvPr/>
        </p:nvSpPr>
        <p:spPr>
          <a:xfrm>
            <a:off x="1600200" y="283208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Séance 2</a:t>
            </a:r>
            <a:endParaRPr lang="en-US" sz="1200" dirty="0"/>
          </a:p>
        </p:txBody>
      </p:sp>
      <p:sp>
        <p:nvSpPr>
          <p:cNvPr id="12" name="texte-97"/>
          <p:cNvSpPr txBox="1"/>
          <p:nvPr/>
        </p:nvSpPr>
        <p:spPr>
          <a:xfrm>
            <a:off x="1600200" y="3022549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LinkedIn</a:t>
            </a:r>
            <a:endParaRPr lang="en-US" sz="1800" dirty="0"/>
          </a:p>
        </p:txBody>
      </p:sp>
      <p:sp>
        <p:nvSpPr>
          <p:cNvPr id="13" name="pastille-texte-98"/>
          <p:cNvSpPr txBox="1"/>
          <p:nvPr/>
        </p:nvSpPr>
        <p:spPr>
          <a:xfrm>
            <a:off x="4203680" y="2920959"/>
            <a:ext cx="1206459" cy="254020"/>
          </a:xfrm>
          <a:prstGeom prst="roundRect">
            <a:avLst>
              <a:gd name="adj" fmla="val 1799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En cours</a:t>
            </a:r>
            <a:endParaRPr lang="en-US" sz="1200" dirty="0"/>
          </a:p>
        </p:txBody>
      </p:sp>
      <p:sp>
        <p:nvSpPr>
          <p:cNvPr id="14" name="carte-99"/>
          <p:cNvSpPr/>
          <p:nvPr/>
        </p:nvSpPr>
        <p:spPr>
          <a:xfrm>
            <a:off x="812810" y="354330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5" name="pastille-100"/>
          <p:cNvSpPr txBox="1"/>
          <p:nvPr/>
        </p:nvSpPr>
        <p:spPr>
          <a:xfrm>
            <a:off x="1041410" y="3708349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e-101"/>
          <p:cNvSpPr txBox="1"/>
          <p:nvPr/>
        </p:nvSpPr>
        <p:spPr>
          <a:xfrm>
            <a:off x="1600200" y="368302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3</a:t>
            </a:r>
            <a:endParaRPr lang="en-US" sz="1200" dirty="0"/>
          </a:p>
        </p:txBody>
      </p:sp>
      <p:sp>
        <p:nvSpPr>
          <p:cNvPr id="17" name="texte-102"/>
          <p:cNvSpPr txBox="1"/>
          <p:nvPr/>
        </p:nvSpPr>
        <p:spPr>
          <a:xfrm>
            <a:off x="1600200" y="387349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Job dating</a:t>
            </a:r>
            <a:endParaRPr lang="en-US" sz="1800" dirty="0"/>
          </a:p>
        </p:txBody>
      </p:sp>
      <p:sp>
        <p:nvSpPr>
          <p:cNvPr id="18" name="carte-103"/>
          <p:cNvSpPr/>
          <p:nvPr/>
        </p:nvSpPr>
        <p:spPr>
          <a:xfrm>
            <a:off x="812810" y="4394149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9" name="pastille-104"/>
          <p:cNvSpPr txBox="1"/>
          <p:nvPr/>
        </p:nvSpPr>
        <p:spPr>
          <a:xfrm>
            <a:off x="1041410" y="4559290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e-105"/>
          <p:cNvSpPr txBox="1"/>
          <p:nvPr/>
        </p:nvSpPr>
        <p:spPr>
          <a:xfrm>
            <a:off x="1600200" y="453387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4</a:t>
            </a:r>
            <a:endParaRPr lang="en-US" sz="1200" dirty="0"/>
          </a:p>
        </p:txBody>
      </p:sp>
      <p:sp>
        <p:nvSpPr>
          <p:cNvPr id="21" name="texte-106"/>
          <p:cNvSpPr txBox="1"/>
          <p:nvPr/>
        </p:nvSpPr>
        <p:spPr>
          <a:xfrm>
            <a:off x="1600200" y="472443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Entretien RH</a:t>
            </a:r>
            <a:endParaRPr lang="en-US" sz="1800" dirty="0"/>
          </a:p>
        </p:txBody>
      </p:sp>
      <p:sp>
        <p:nvSpPr>
          <p:cNvPr id="22" name="carte-107"/>
          <p:cNvSpPr/>
          <p:nvPr/>
        </p:nvSpPr>
        <p:spPr>
          <a:xfrm>
            <a:off x="812810" y="524509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3" name="pastille-108"/>
          <p:cNvSpPr txBox="1"/>
          <p:nvPr/>
        </p:nvSpPr>
        <p:spPr>
          <a:xfrm>
            <a:off x="1041410" y="5410230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e-109"/>
          <p:cNvSpPr txBox="1"/>
          <p:nvPr/>
        </p:nvSpPr>
        <p:spPr>
          <a:xfrm>
            <a:off x="1600200" y="538481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5</a:t>
            </a:r>
            <a:endParaRPr lang="en-US" sz="1200" dirty="0"/>
          </a:p>
        </p:txBody>
      </p:sp>
      <p:sp>
        <p:nvSpPr>
          <p:cNvPr id="25" name="texte-110"/>
          <p:cNvSpPr txBox="1"/>
          <p:nvPr/>
        </p:nvSpPr>
        <p:spPr>
          <a:xfrm>
            <a:off x="1600200" y="557528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Entretien technique</a:t>
            </a:r>
            <a:endParaRPr lang="en-US" sz="1800" dirty="0"/>
          </a:p>
        </p:txBody>
      </p:sp>
      <p:sp>
        <p:nvSpPr>
          <p:cNvPr id="26" name="carte-111"/>
          <p:cNvSpPr/>
          <p:nvPr/>
        </p:nvSpPr>
        <p:spPr>
          <a:xfrm>
            <a:off x="5892759" y="1841510"/>
            <a:ext cx="5486400" cy="4127510"/>
          </a:xfrm>
          <a:prstGeom prst="roundRect">
            <a:avLst>
              <a:gd name="adj" fmla="val 553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7" name="texte-112"/>
          <p:cNvSpPr txBox="1"/>
          <p:nvPr/>
        </p:nvSpPr>
        <p:spPr>
          <a:xfrm>
            <a:off x="6172200" y="2070110"/>
            <a:ext cx="444499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 programme</a:t>
            </a:r>
            <a:endParaRPr lang="en-US" sz="1600" dirty="0"/>
          </a:p>
        </p:txBody>
      </p:sp>
      <p:sp>
        <p:nvSpPr>
          <p:cNvPr id="28" name="pastille-113"/>
          <p:cNvSpPr txBox="1"/>
          <p:nvPr/>
        </p:nvSpPr>
        <p:spPr>
          <a:xfrm>
            <a:off x="6172200" y="2692359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e-114"/>
          <p:cNvSpPr txBox="1"/>
          <p:nvPr/>
        </p:nvSpPr>
        <p:spPr>
          <a:xfrm>
            <a:off x="6680149" y="260348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Optimisation du titre et du résumé</a:t>
            </a:r>
            <a:endParaRPr lang="en-US" sz="1700" dirty="0"/>
          </a:p>
        </p:txBody>
      </p:sp>
      <p:sp>
        <p:nvSpPr>
          <p:cNvPr id="30" name="pastille-115"/>
          <p:cNvSpPr txBox="1"/>
          <p:nvPr/>
        </p:nvSpPr>
        <p:spPr>
          <a:xfrm>
            <a:off x="6172200" y="350517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1" name="texte-116"/>
          <p:cNvSpPr txBox="1"/>
          <p:nvPr/>
        </p:nvSpPr>
        <p:spPr>
          <a:xfrm>
            <a:off x="6680149" y="341629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Amélioration des expériences et compétences</a:t>
            </a:r>
            <a:endParaRPr lang="en-US" sz="1700" dirty="0"/>
          </a:p>
        </p:txBody>
      </p:sp>
      <p:sp>
        <p:nvSpPr>
          <p:cNvPr id="32" name="pastille-117"/>
          <p:cNvSpPr txBox="1"/>
          <p:nvPr/>
        </p:nvSpPr>
        <p:spPr>
          <a:xfrm>
            <a:off x="6172200" y="431798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exte-118"/>
          <p:cNvSpPr txBox="1"/>
          <p:nvPr/>
        </p:nvSpPr>
        <p:spPr>
          <a:xfrm>
            <a:off x="6680149" y="422910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Conseils pour être visible par les recruteurs</a:t>
            </a:r>
            <a:endParaRPr lang="en-US" sz="1700" dirty="0"/>
          </a:p>
        </p:txBody>
      </p:sp>
      <p:sp>
        <p:nvSpPr>
          <p:cNvPr id="34" name="pastille-119"/>
          <p:cNvSpPr txBox="1"/>
          <p:nvPr/>
        </p:nvSpPr>
        <p:spPr>
          <a:xfrm>
            <a:off x="6172200" y="513079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e-120"/>
          <p:cNvSpPr txBox="1"/>
          <p:nvPr/>
        </p:nvSpPr>
        <p:spPr>
          <a:xfrm>
            <a:off x="6680149" y="504191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Bonnes pratiques LinkedIn</a:t>
            </a:r>
            <a:endParaRPr lang="en-US" sz="1700" dirty="0"/>
          </a:p>
        </p:txBody>
      </p:sp>
      <p:pic>
        <p:nvPicPr>
          <p:cNvPr id="36" name="Copied Picture 36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99431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SÉANCE 3 SUR 5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Séance 3 – Job dating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Trouver les bonnes offres et candidater sans s’épuiser · 30 à 60 min</a:t>
            </a:r>
            <a:endParaRPr lang="en-US" sz="1400" dirty="0"/>
          </a:p>
        </p:txBody>
      </p:sp>
      <p:sp>
        <p:nvSpPr>
          <p:cNvPr id="5" name="carte-121"/>
          <p:cNvSpPr/>
          <p:nvPr/>
        </p:nvSpPr>
        <p:spPr>
          <a:xfrm>
            <a:off x="812810" y="184151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pastille-122"/>
          <p:cNvSpPr txBox="1"/>
          <p:nvPr/>
        </p:nvSpPr>
        <p:spPr>
          <a:xfrm>
            <a:off x="1041410" y="2006559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e-123"/>
          <p:cNvSpPr txBox="1"/>
          <p:nvPr/>
        </p:nvSpPr>
        <p:spPr>
          <a:xfrm>
            <a:off x="1600200" y="198123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1</a:t>
            </a:r>
            <a:endParaRPr lang="en-US" sz="1200" dirty="0"/>
          </a:p>
        </p:txBody>
      </p:sp>
      <p:sp>
        <p:nvSpPr>
          <p:cNvPr id="8" name="texte-124"/>
          <p:cNvSpPr txBox="1"/>
          <p:nvPr/>
        </p:nvSpPr>
        <p:spPr>
          <a:xfrm>
            <a:off x="1600200" y="217170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CV</a:t>
            </a:r>
            <a:endParaRPr lang="en-US" sz="1800" dirty="0"/>
          </a:p>
        </p:txBody>
      </p:sp>
      <p:sp>
        <p:nvSpPr>
          <p:cNvPr id="9" name="carte-125"/>
          <p:cNvSpPr/>
          <p:nvPr/>
        </p:nvSpPr>
        <p:spPr>
          <a:xfrm>
            <a:off x="812810" y="2692359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" name="pastille-126"/>
          <p:cNvSpPr txBox="1"/>
          <p:nvPr/>
        </p:nvSpPr>
        <p:spPr>
          <a:xfrm>
            <a:off x="1041410" y="2857500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e-127"/>
          <p:cNvSpPr txBox="1"/>
          <p:nvPr/>
        </p:nvSpPr>
        <p:spPr>
          <a:xfrm>
            <a:off x="1600200" y="283208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2</a:t>
            </a:r>
            <a:endParaRPr lang="en-US" sz="1200" dirty="0"/>
          </a:p>
        </p:txBody>
      </p:sp>
      <p:sp>
        <p:nvSpPr>
          <p:cNvPr id="12" name="texte-128"/>
          <p:cNvSpPr txBox="1"/>
          <p:nvPr/>
        </p:nvSpPr>
        <p:spPr>
          <a:xfrm>
            <a:off x="1600200" y="3022549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LinkedIn</a:t>
            </a:r>
            <a:endParaRPr lang="en-US" sz="1800" dirty="0"/>
          </a:p>
        </p:txBody>
      </p:sp>
      <p:sp>
        <p:nvSpPr>
          <p:cNvPr id="13" name="carte-129"/>
          <p:cNvSpPr/>
          <p:nvPr/>
        </p:nvSpPr>
        <p:spPr>
          <a:xfrm>
            <a:off x="812810" y="354330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accent4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" name="pastille-130"/>
          <p:cNvSpPr txBox="1"/>
          <p:nvPr/>
        </p:nvSpPr>
        <p:spPr>
          <a:xfrm>
            <a:off x="1041410" y="3708349"/>
            <a:ext cx="381030" cy="38103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e-131"/>
          <p:cNvSpPr txBox="1"/>
          <p:nvPr/>
        </p:nvSpPr>
        <p:spPr>
          <a:xfrm>
            <a:off x="1600200" y="368302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Séance 3</a:t>
            </a:r>
            <a:endParaRPr lang="en-US" sz="1200" dirty="0"/>
          </a:p>
        </p:txBody>
      </p:sp>
      <p:sp>
        <p:nvSpPr>
          <p:cNvPr id="16" name="texte-132"/>
          <p:cNvSpPr txBox="1"/>
          <p:nvPr/>
        </p:nvSpPr>
        <p:spPr>
          <a:xfrm>
            <a:off x="1600200" y="387349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Job dating</a:t>
            </a:r>
            <a:endParaRPr lang="en-US" sz="1800" dirty="0"/>
          </a:p>
        </p:txBody>
      </p:sp>
      <p:sp>
        <p:nvSpPr>
          <p:cNvPr id="17" name="pastille-texte-133"/>
          <p:cNvSpPr txBox="1"/>
          <p:nvPr/>
        </p:nvSpPr>
        <p:spPr>
          <a:xfrm>
            <a:off x="4203680" y="3771900"/>
            <a:ext cx="1206459" cy="254020"/>
          </a:xfrm>
          <a:prstGeom prst="roundRect">
            <a:avLst>
              <a:gd name="adj" fmla="val 1799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En cours</a:t>
            </a:r>
            <a:endParaRPr lang="en-US" sz="1200" dirty="0"/>
          </a:p>
        </p:txBody>
      </p:sp>
      <p:sp>
        <p:nvSpPr>
          <p:cNvPr id="18" name="carte-134"/>
          <p:cNvSpPr/>
          <p:nvPr/>
        </p:nvSpPr>
        <p:spPr>
          <a:xfrm>
            <a:off x="812810" y="4394149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9" name="pastille-135"/>
          <p:cNvSpPr txBox="1"/>
          <p:nvPr/>
        </p:nvSpPr>
        <p:spPr>
          <a:xfrm>
            <a:off x="1041410" y="4559290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e-136"/>
          <p:cNvSpPr txBox="1"/>
          <p:nvPr/>
        </p:nvSpPr>
        <p:spPr>
          <a:xfrm>
            <a:off x="1600200" y="453387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4</a:t>
            </a:r>
            <a:endParaRPr lang="en-US" sz="1200" dirty="0"/>
          </a:p>
        </p:txBody>
      </p:sp>
      <p:sp>
        <p:nvSpPr>
          <p:cNvPr id="21" name="texte-137"/>
          <p:cNvSpPr txBox="1"/>
          <p:nvPr/>
        </p:nvSpPr>
        <p:spPr>
          <a:xfrm>
            <a:off x="1600200" y="472443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Entretien RH</a:t>
            </a:r>
            <a:endParaRPr lang="en-US" sz="1800" dirty="0"/>
          </a:p>
        </p:txBody>
      </p:sp>
      <p:sp>
        <p:nvSpPr>
          <p:cNvPr id="22" name="carte-138"/>
          <p:cNvSpPr/>
          <p:nvPr/>
        </p:nvSpPr>
        <p:spPr>
          <a:xfrm>
            <a:off x="812810" y="524509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3" name="pastille-139"/>
          <p:cNvSpPr txBox="1"/>
          <p:nvPr/>
        </p:nvSpPr>
        <p:spPr>
          <a:xfrm>
            <a:off x="1041410" y="5410230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e-140"/>
          <p:cNvSpPr txBox="1"/>
          <p:nvPr/>
        </p:nvSpPr>
        <p:spPr>
          <a:xfrm>
            <a:off x="1600200" y="538481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5</a:t>
            </a:r>
            <a:endParaRPr lang="en-US" sz="1200" dirty="0"/>
          </a:p>
        </p:txBody>
      </p:sp>
      <p:sp>
        <p:nvSpPr>
          <p:cNvPr id="25" name="texte-141"/>
          <p:cNvSpPr txBox="1"/>
          <p:nvPr/>
        </p:nvSpPr>
        <p:spPr>
          <a:xfrm>
            <a:off x="1600200" y="557528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Entretien technique</a:t>
            </a:r>
            <a:endParaRPr lang="en-US" sz="1800" dirty="0"/>
          </a:p>
        </p:txBody>
      </p:sp>
      <p:sp>
        <p:nvSpPr>
          <p:cNvPr id="26" name="carte-142"/>
          <p:cNvSpPr/>
          <p:nvPr/>
        </p:nvSpPr>
        <p:spPr>
          <a:xfrm>
            <a:off x="5892759" y="1841510"/>
            <a:ext cx="5486400" cy="4127510"/>
          </a:xfrm>
          <a:prstGeom prst="roundRect">
            <a:avLst>
              <a:gd name="adj" fmla="val 553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7" name="texte-143"/>
          <p:cNvSpPr txBox="1"/>
          <p:nvPr/>
        </p:nvSpPr>
        <p:spPr>
          <a:xfrm>
            <a:off x="6172200" y="2070110"/>
            <a:ext cx="444499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 programme</a:t>
            </a:r>
            <a:endParaRPr lang="en-US" sz="1600" dirty="0"/>
          </a:p>
        </p:txBody>
      </p:sp>
      <p:sp>
        <p:nvSpPr>
          <p:cNvPr id="28" name="pastille-144"/>
          <p:cNvSpPr txBox="1"/>
          <p:nvPr/>
        </p:nvSpPr>
        <p:spPr>
          <a:xfrm>
            <a:off x="6172200" y="2692359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e-145"/>
          <p:cNvSpPr txBox="1"/>
          <p:nvPr/>
        </p:nvSpPr>
        <p:spPr>
          <a:xfrm>
            <a:off x="6680149" y="260348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Où et comment trouver des offres pertinentes</a:t>
            </a:r>
            <a:endParaRPr lang="en-US" sz="1700" dirty="0"/>
          </a:p>
        </p:txBody>
      </p:sp>
      <p:sp>
        <p:nvSpPr>
          <p:cNvPr id="30" name="pastille-146"/>
          <p:cNvSpPr txBox="1"/>
          <p:nvPr/>
        </p:nvSpPr>
        <p:spPr>
          <a:xfrm>
            <a:off x="6172200" y="350517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1" name="texte-147"/>
          <p:cNvSpPr txBox="1"/>
          <p:nvPr/>
        </p:nvSpPr>
        <p:spPr>
          <a:xfrm>
            <a:off x="6680149" y="341629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Méthode pour candidater efficacement</a:t>
            </a:r>
            <a:endParaRPr lang="en-US" sz="1700" dirty="0"/>
          </a:p>
        </p:txBody>
      </p:sp>
      <p:sp>
        <p:nvSpPr>
          <p:cNvPr id="32" name="pastille-148"/>
          <p:cNvSpPr txBox="1"/>
          <p:nvPr/>
        </p:nvSpPr>
        <p:spPr>
          <a:xfrm>
            <a:off x="6172200" y="431798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exte-149"/>
          <p:cNvSpPr txBox="1"/>
          <p:nvPr/>
        </p:nvSpPr>
        <p:spPr>
          <a:xfrm>
            <a:off x="6680149" y="422910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Organisation et suivi des candidatures</a:t>
            </a:r>
            <a:endParaRPr lang="en-US" sz="1700" dirty="0"/>
          </a:p>
        </p:txBody>
      </p:sp>
      <p:sp>
        <p:nvSpPr>
          <p:cNvPr id="34" name="pastille-150"/>
          <p:cNvSpPr txBox="1"/>
          <p:nvPr/>
        </p:nvSpPr>
        <p:spPr>
          <a:xfrm>
            <a:off x="6172200" y="513079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e-151"/>
          <p:cNvSpPr txBox="1"/>
          <p:nvPr/>
        </p:nvSpPr>
        <p:spPr>
          <a:xfrm>
            <a:off x="6680149" y="504191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Optimisation du temps et des efforts</a:t>
            </a:r>
            <a:endParaRPr lang="en-US" sz="1700" dirty="0"/>
          </a:p>
        </p:txBody>
      </p:sp>
      <p:pic>
        <p:nvPicPr>
          <p:cNvPr id="36" name="Copied Picture 36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36316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SÉANCE 4 SUR 5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Séance 4 – Entretien RH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Convaincre le recruteur de ta motivation · 30 à 60 min</a:t>
            </a:r>
            <a:endParaRPr lang="en-US" sz="1400" dirty="0"/>
          </a:p>
        </p:txBody>
      </p:sp>
      <p:sp>
        <p:nvSpPr>
          <p:cNvPr id="5" name="carte-152"/>
          <p:cNvSpPr/>
          <p:nvPr/>
        </p:nvSpPr>
        <p:spPr>
          <a:xfrm>
            <a:off x="812810" y="184151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pastille-153"/>
          <p:cNvSpPr txBox="1"/>
          <p:nvPr/>
        </p:nvSpPr>
        <p:spPr>
          <a:xfrm>
            <a:off x="1041410" y="2006559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e-154"/>
          <p:cNvSpPr txBox="1"/>
          <p:nvPr/>
        </p:nvSpPr>
        <p:spPr>
          <a:xfrm>
            <a:off x="1600200" y="198123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1</a:t>
            </a:r>
            <a:endParaRPr lang="en-US" sz="1200" dirty="0"/>
          </a:p>
        </p:txBody>
      </p:sp>
      <p:sp>
        <p:nvSpPr>
          <p:cNvPr id="8" name="texte-155"/>
          <p:cNvSpPr txBox="1"/>
          <p:nvPr/>
        </p:nvSpPr>
        <p:spPr>
          <a:xfrm>
            <a:off x="1600200" y="217170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CV</a:t>
            </a:r>
            <a:endParaRPr lang="en-US" sz="1800" dirty="0"/>
          </a:p>
        </p:txBody>
      </p:sp>
      <p:sp>
        <p:nvSpPr>
          <p:cNvPr id="9" name="carte-156"/>
          <p:cNvSpPr/>
          <p:nvPr/>
        </p:nvSpPr>
        <p:spPr>
          <a:xfrm>
            <a:off x="812810" y="2692359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" name="pastille-157"/>
          <p:cNvSpPr txBox="1"/>
          <p:nvPr/>
        </p:nvSpPr>
        <p:spPr>
          <a:xfrm>
            <a:off x="1041410" y="2857500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e-158"/>
          <p:cNvSpPr txBox="1"/>
          <p:nvPr/>
        </p:nvSpPr>
        <p:spPr>
          <a:xfrm>
            <a:off x="1600200" y="283208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2</a:t>
            </a:r>
            <a:endParaRPr lang="en-US" sz="1200" dirty="0"/>
          </a:p>
        </p:txBody>
      </p:sp>
      <p:sp>
        <p:nvSpPr>
          <p:cNvPr id="12" name="texte-159"/>
          <p:cNvSpPr txBox="1"/>
          <p:nvPr/>
        </p:nvSpPr>
        <p:spPr>
          <a:xfrm>
            <a:off x="1600200" y="3022549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LinkedIn</a:t>
            </a:r>
            <a:endParaRPr lang="en-US" sz="1800" dirty="0"/>
          </a:p>
        </p:txBody>
      </p:sp>
      <p:sp>
        <p:nvSpPr>
          <p:cNvPr id="13" name="carte-160"/>
          <p:cNvSpPr/>
          <p:nvPr/>
        </p:nvSpPr>
        <p:spPr>
          <a:xfrm>
            <a:off x="812810" y="354330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" name="pastille-161"/>
          <p:cNvSpPr txBox="1"/>
          <p:nvPr/>
        </p:nvSpPr>
        <p:spPr>
          <a:xfrm>
            <a:off x="1041410" y="3708349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e-162"/>
          <p:cNvSpPr txBox="1"/>
          <p:nvPr/>
        </p:nvSpPr>
        <p:spPr>
          <a:xfrm>
            <a:off x="1600200" y="368302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3</a:t>
            </a:r>
            <a:endParaRPr lang="en-US" sz="1200" dirty="0"/>
          </a:p>
        </p:txBody>
      </p:sp>
      <p:sp>
        <p:nvSpPr>
          <p:cNvPr id="16" name="texte-163"/>
          <p:cNvSpPr txBox="1"/>
          <p:nvPr/>
        </p:nvSpPr>
        <p:spPr>
          <a:xfrm>
            <a:off x="1600200" y="387349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Job dating</a:t>
            </a:r>
            <a:endParaRPr lang="en-US" sz="1800" dirty="0"/>
          </a:p>
        </p:txBody>
      </p:sp>
      <p:sp>
        <p:nvSpPr>
          <p:cNvPr id="17" name="carte-164"/>
          <p:cNvSpPr/>
          <p:nvPr/>
        </p:nvSpPr>
        <p:spPr>
          <a:xfrm>
            <a:off x="812810" y="4394149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accent4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8" name="pastille-165"/>
          <p:cNvSpPr txBox="1"/>
          <p:nvPr/>
        </p:nvSpPr>
        <p:spPr>
          <a:xfrm>
            <a:off x="1041410" y="4559290"/>
            <a:ext cx="381030" cy="38103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e-166"/>
          <p:cNvSpPr txBox="1"/>
          <p:nvPr/>
        </p:nvSpPr>
        <p:spPr>
          <a:xfrm>
            <a:off x="1600200" y="453387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Séance 4</a:t>
            </a:r>
            <a:endParaRPr lang="en-US" sz="1200" dirty="0"/>
          </a:p>
        </p:txBody>
      </p:sp>
      <p:sp>
        <p:nvSpPr>
          <p:cNvPr id="20" name="texte-167"/>
          <p:cNvSpPr txBox="1"/>
          <p:nvPr/>
        </p:nvSpPr>
        <p:spPr>
          <a:xfrm>
            <a:off x="1600200" y="472443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Entretien RH</a:t>
            </a:r>
            <a:endParaRPr lang="en-US" sz="1800" dirty="0"/>
          </a:p>
        </p:txBody>
      </p:sp>
      <p:sp>
        <p:nvSpPr>
          <p:cNvPr id="21" name="pastille-texte-168"/>
          <p:cNvSpPr txBox="1"/>
          <p:nvPr/>
        </p:nvSpPr>
        <p:spPr>
          <a:xfrm>
            <a:off x="4203680" y="4622749"/>
            <a:ext cx="1206459" cy="254020"/>
          </a:xfrm>
          <a:prstGeom prst="roundRect">
            <a:avLst>
              <a:gd name="adj" fmla="val 1799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En cours</a:t>
            </a:r>
            <a:endParaRPr lang="en-US" sz="1200" dirty="0"/>
          </a:p>
        </p:txBody>
      </p:sp>
      <p:sp>
        <p:nvSpPr>
          <p:cNvPr id="22" name="carte-169"/>
          <p:cNvSpPr/>
          <p:nvPr/>
        </p:nvSpPr>
        <p:spPr>
          <a:xfrm>
            <a:off x="812810" y="524509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3" name="pastille-170"/>
          <p:cNvSpPr txBox="1"/>
          <p:nvPr/>
        </p:nvSpPr>
        <p:spPr>
          <a:xfrm>
            <a:off x="1041410" y="5410230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e-171"/>
          <p:cNvSpPr txBox="1"/>
          <p:nvPr/>
        </p:nvSpPr>
        <p:spPr>
          <a:xfrm>
            <a:off x="1600200" y="538481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5</a:t>
            </a:r>
            <a:endParaRPr lang="en-US" sz="1200" dirty="0"/>
          </a:p>
        </p:txBody>
      </p:sp>
      <p:sp>
        <p:nvSpPr>
          <p:cNvPr id="25" name="texte-172"/>
          <p:cNvSpPr txBox="1"/>
          <p:nvPr/>
        </p:nvSpPr>
        <p:spPr>
          <a:xfrm>
            <a:off x="1600200" y="557528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Entretien technique</a:t>
            </a:r>
            <a:endParaRPr lang="en-US" sz="1800" dirty="0"/>
          </a:p>
        </p:txBody>
      </p:sp>
      <p:sp>
        <p:nvSpPr>
          <p:cNvPr id="26" name="carte-173"/>
          <p:cNvSpPr/>
          <p:nvPr/>
        </p:nvSpPr>
        <p:spPr>
          <a:xfrm>
            <a:off x="5892759" y="1841510"/>
            <a:ext cx="5486400" cy="4127510"/>
          </a:xfrm>
          <a:prstGeom prst="roundRect">
            <a:avLst>
              <a:gd name="adj" fmla="val 553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7" name="texte-174"/>
          <p:cNvSpPr txBox="1"/>
          <p:nvPr/>
        </p:nvSpPr>
        <p:spPr>
          <a:xfrm>
            <a:off x="6172200" y="2070110"/>
            <a:ext cx="444499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 programme</a:t>
            </a:r>
            <a:endParaRPr lang="en-US" sz="1600" dirty="0"/>
          </a:p>
        </p:txBody>
      </p:sp>
      <p:sp>
        <p:nvSpPr>
          <p:cNvPr id="28" name="pastille-175"/>
          <p:cNvSpPr txBox="1"/>
          <p:nvPr/>
        </p:nvSpPr>
        <p:spPr>
          <a:xfrm>
            <a:off x="6172200" y="2692359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e-176"/>
          <p:cNvSpPr txBox="1"/>
          <p:nvPr/>
        </p:nvSpPr>
        <p:spPr>
          <a:xfrm>
            <a:off x="6680149" y="260348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Questions RH les plus fréquentes</a:t>
            </a:r>
            <a:endParaRPr lang="en-US" sz="1700" dirty="0"/>
          </a:p>
        </p:txBody>
      </p:sp>
      <p:sp>
        <p:nvSpPr>
          <p:cNvPr id="30" name="pastille-177"/>
          <p:cNvSpPr txBox="1"/>
          <p:nvPr/>
        </p:nvSpPr>
        <p:spPr>
          <a:xfrm>
            <a:off x="6172200" y="350517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1" name="texte-178"/>
          <p:cNvSpPr txBox="1"/>
          <p:nvPr/>
        </p:nvSpPr>
        <p:spPr>
          <a:xfrm>
            <a:off x="6680149" y="341629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Structurer ses réponses efficacement</a:t>
            </a:r>
            <a:endParaRPr lang="en-US" sz="1700" dirty="0"/>
          </a:p>
        </p:txBody>
      </p:sp>
      <p:sp>
        <p:nvSpPr>
          <p:cNvPr id="32" name="pastille-179"/>
          <p:cNvSpPr txBox="1"/>
          <p:nvPr/>
        </p:nvSpPr>
        <p:spPr>
          <a:xfrm>
            <a:off x="6172200" y="431798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exte-180"/>
          <p:cNvSpPr txBox="1"/>
          <p:nvPr/>
        </p:nvSpPr>
        <p:spPr>
          <a:xfrm>
            <a:off x="6680149" y="422910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Valoriser son parcours et sa motivation</a:t>
            </a:r>
            <a:endParaRPr lang="en-US" sz="1700" dirty="0"/>
          </a:p>
        </p:txBody>
      </p:sp>
      <p:sp>
        <p:nvSpPr>
          <p:cNvPr id="34" name="pastille-181"/>
          <p:cNvSpPr txBox="1"/>
          <p:nvPr/>
        </p:nvSpPr>
        <p:spPr>
          <a:xfrm>
            <a:off x="6172200" y="513079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e-182"/>
          <p:cNvSpPr txBox="1"/>
          <p:nvPr/>
        </p:nvSpPr>
        <p:spPr>
          <a:xfrm>
            <a:off x="6680149" y="504191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Conseils posture, discours et confiance</a:t>
            </a:r>
            <a:endParaRPr lang="en-US" sz="1700" dirty="0"/>
          </a:p>
        </p:txBody>
      </p:sp>
      <p:pic>
        <p:nvPicPr>
          <p:cNvPr id="36" name="Copied Picture 36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3324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SÉANCE 5 SUR 5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Séance 5 – Entretien technique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Aborder les questions techniques avec méthode · 30 à 60 min</a:t>
            </a:r>
            <a:endParaRPr lang="en-US" sz="1400" dirty="0"/>
          </a:p>
        </p:txBody>
      </p:sp>
      <p:sp>
        <p:nvSpPr>
          <p:cNvPr id="5" name="carte-183"/>
          <p:cNvSpPr/>
          <p:nvPr/>
        </p:nvSpPr>
        <p:spPr>
          <a:xfrm>
            <a:off x="812810" y="184151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pastille-184"/>
          <p:cNvSpPr txBox="1"/>
          <p:nvPr/>
        </p:nvSpPr>
        <p:spPr>
          <a:xfrm>
            <a:off x="1041410" y="2006559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e-185"/>
          <p:cNvSpPr txBox="1"/>
          <p:nvPr/>
        </p:nvSpPr>
        <p:spPr>
          <a:xfrm>
            <a:off x="1600200" y="198123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1</a:t>
            </a:r>
            <a:endParaRPr lang="en-US" sz="1200" dirty="0"/>
          </a:p>
        </p:txBody>
      </p:sp>
      <p:sp>
        <p:nvSpPr>
          <p:cNvPr id="8" name="texte-186"/>
          <p:cNvSpPr txBox="1"/>
          <p:nvPr/>
        </p:nvSpPr>
        <p:spPr>
          <a:xfrm>
            <a:off x="1600200" y="217170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CV</a:t>
            </a:r>
            <a:endParaRPr lang="en-US" sz="1800" dirty="0"/>
          </a:p>
        </p:txBody>
      </p:sp>
      <p:sp>
        <p:nvSpPr>
          <p:cNvPr id="9" name="carte-187"/>
          <p:cNvSpPr/>
          <p:nvPr/>
        </p:nvSpPr>
        <p:spPr>
          <a:xfrm>
            <a:off x="812810" y="2692359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" name="pastille-188"/>
          <p:cNvSpPr txBox="1"/>
          <p:nvPr/>
        </p:nvSpPr>
        <p:spPr>
          <a:xfrm>
            <a:off x="1041410" y="2857500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e-189"/>
          <p:cNvSpPr txBox="1"/>
          <p:nvPr/>
        </p:nvSpPr>
        <p:spPr>
          <a:xfrm>
            <a:off x="1600200" y="283208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2</a:t>
            </a:r>
            <a:endParaRPr lang="en-US" sz="1200" dirty="0"/>
          </a:p>
        </p:txBody>
      </p:sp>
      <p:sp>
        <p:nvSpPr>
          <p:cNvPr id="12" name="texte-190"/>
          <p:cNvSpPr txBox="1"/>
          <p:nvPr/>
        </p:nvSpPr>
        <p:spPr>
          <a:xfrm>
            <a:off x="1600200" y="3022549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LinkedIn</a:t>
            </a:r>
            <a:endParaRPr lang="en-US" sz="1800" dirty="0"/>
          </a:p>
        </p:txBody>
      </p:sp>
      <p:sp>
        <p:nvSpPr>
          <p:cNvPr id="13" name="carte-191"/>
          <p:cNvSpPr/>
          <p:nvPr/>
        </p:nvSpPr>
        <p:spPr>
          <a:xfrm>
            <a:off x="812810" y="354330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" name="pastille-192"/>
          <p:cNvSpPr txBox="1"/>
          <p:nvPr/>
        </p:nvSpPr>
        <p:spPr>
          <a:xfrm>
            <a:off x="1041410" y="3708349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e-193"/>
          <p:cNvSpPr txBox="1"/>
          <p:nvPr/>
        </p:nvSpPr>
        <p:spPr>
          <a:xfrm>
            <a:off x="1600200" y="368302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3</a:t>
            </a:r>
            <a:endParaRPr lang="en-US" sz="1200" dirty="0"/>
          </a:p>
        </p:txBody>
      </p:sp>
      <p:sp>
        <p:nvSpPr>
          <p:cNvPr id="16" name="texte-194"/>
          <p:cNvSpPr txBox="1"/>
          <p:nvPr/>
        </p:nvSpPr>
        <p:spPr>
          <a:xfrm>
            <a:off x="1600200" y="387349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Job dating</a:t>
            </a:r>
            <a:endParaRPr lang="en-US" sz="1800" dirty="0"/>
          </a:p>
        </p:txBody>
      </p:sp>
      <p:sp>
        <p:nvSpPr>
          <p:cNvPr id="17" name="carte-195"/>
          <p:cNvSpPr/>
          <p:nvPr/>
        </p:nvSpPr>
        <p:spPr>
          <a:xfrm>
            <a:off x="812810" y="4394149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8" name="pastille-196"/>
          <p:cNvSpPr txBox="1"/>
          <p:nvPr/>
        </p:nvSpPr>
        <p:spPr>
          <a:xfrm>
            <a:off x="1041410" y="4559290"/>
            <a:ext cx="381030" cy="38103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e-197"/>
          <p:cNvSpPr txBox="1"/>
          <p:nvPr/>
        </p:nvSpPr>
        <p:spPr>
          <a:xfrm>
            <a:off x="1600200" y="453387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Séance 4</a:t>
            </a:r>
            <a:endParaRPr lang="en-US" sz="1200" dirty="0"/>
          </a:p>
        </p:txBody>
      </p:sp>
      <p:sp>
        <p:nvSpPr>
          <p:cNvPr id="20" name="texte-198"/>
          <p:cNvSpPr txBox="1"/>
          <p:nvPr/>
        </p:nvSpPr>
        <p:spPr>
          <a:xfrm>
            <a:off x="1600200" y="472443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Entretien RH</a:t>
            </a:r>
            <a:endParaRPr lang="en-US" sz="1800" dirty="0"/>
          </a:p>
        </p:txBody>
      </p:sp>
      <p:sp>
        <p:nvSpPr>
          <p:cNvPr id="21" name="carte-199"/>
          <p:cNvSpPr/>
          <p:nvPr/>
        </p:nvSpPr>
        <p:spPr>
          <a:xfrm>
            <a:off x="812810" y="5245090"/>
            <a:ext cx="4826020" cy="711220"/>
          </a:xfrm>
          <a:prstGeom prst="roundRect">
            <a:avLst>
              <a:gd name="adj" fmla="val 25714"/>
            </a:avLst>
          </a:prstGeom>
          <a:solidFill>
            <a:schemeClr val="accent4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2" name="pastille-200"/>
          <p:cNvSpPr txBox="1"/>
          <p:nvPr/>
        </p:nvSpPr>
        <p:spPr>
          <a:xfrm>
            <a:off x="1041410" y="5410230"/>
            <a:ext cx="381030" cy="38103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e-201"/>
          <p:cNvSpPr txBox="1"/>
          <p:nvPr/>
        </p:nvSpPr>
        <p:spPr>
          <a:xfrm>
            <a:off x="1600200" y="5384810"/>
            <a:ext cx="254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Séance 5</a:t>
            </a:r>
            <a:endParaRPr lang="en-US" sz="1200" dirty="0"/>
          </a:p>
        </p:txBody>
      </p:sp>
      <p:sp>
        <p:nvSpPr>
          <p:cNvPr id="24" name="texte-202"/>
          <p:cNvSpPr txBox="1"/>
          <p:nvPr/>
        </p:nvSpPr>
        <p:spPr>
          <a:xfrm>
            <a:off x="1600200" y="5575280"/>
            <a:ext cx="3556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Entretien technique</a:t>
            </a:r>
            <a:endParaRPr lang="en-US" sz="1800" dirty="0"/>
          </a:p>
        </p:txBody>
      </p:sp>
      <p:sp>
        <p:nvSpPr>
          <p:cNvPr id="25" name="pastille-texte-203"/>
          <p:cNvSpPr txBox="1"/>
          <p:nvPr/>
        </p:nvSpPr>
        <p:spPr>
          <a:xfrm>
            <a:off x="4203680" y="5473690"/>
            <a:ext cx="1206459" cy="254020"/>
          </a:xfrm>
          <a:prstGeom prst="roundRect">
            <a:avLst>
              <a:gd name="adj" fmla="val 1799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En cours</a:t>
            </a:r>
            <a:endParaRPr lang="en-US" sz="1200" dirty="0"/>
          </a:p>
        </p:txBody>
      </p:sp>
      <p:sp>
        <p:nvSpPr>
          <p:cNvPr id="26" name="carte-204"/>
          <p:cNvSpPr/>
          <p:nvPr/>
        </p:nvSpPr>
        <p:spPr>
          <a:xfrm>
            <a:off x="5892759" y="1841510"/>
            <a:ext cx="5486400" cy="4127510"/>
          </a:xfrm>
          <a:prstGeom prst="roundRect">
            <a:avLst>
              <a:gd name="adj" fmla="val 553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7" name="texte-205"/>
          <p:cNvSpPr txBox="1"/>
          <p:nvPr/>
        </p:nvSpPr>
        <p:spPr>
          <a:xfrm>
            <a:off x="6172200" y="2070110"/>
            <a:ext cx="444499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 programme</a:t>
            </a:r>
            <a:endParaRPr lang="en-US" sz="1600" dirty="0"/>
          </a:p>
        </p:txBody>
      </p:sp>
      <p:sp>
        <p:nvSpPr>
          <p:cNvPr id="28" name="pastille-206"/>
          <p:cNvSpPr txBox="1"/>
          <p:nvPr/>
        </p:nvSpPr>
        <p:spPr>
          <a:xfrm>
            <a:off x="6172200" y="2692359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e-207"/>
          <p:cNvSpPr txBox="1"/>
          <p:nvPr/>
        </p:nvSpPr>
        <p:spPr>
          <a:xfrm>
            <a:off x="6680149" y="260348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Préparation aux questions techniques ou études de cas</a:t>
            </a:r>
            <a:endParaRPr lang="en-US" sz="1700" dirty="0"/>
          </a:p>
        </p:txBody>
      </p:sp>
      <p:sp>
        <p:nvSpPr>
          <p:cNvPr id="30" name="pastille-208"/>
          <p:cNvSpPr txBox="1"/>
          <p:nvPr/>
        </p:nvSpPr>
        <p:spPr>
          <a:xfrm>
            <a:off x="6172200" y="350517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1" name="texte-209"/>
          <p:cNvSpPr txBox="1"/>
          <p:nvPr/>
        </p:nvSpPr>
        <p:spPr>
          <a:xfrm>
            <a:off x="6680149" y="341629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Méthode pour structurer ses réponses</a:t>
            </a:r>
            <a:endParaRPr lang="en-US" sz="1700" dirty="0"/>
          </a:p>
        </p:txBody>
      </p:sp>
      <p:sp>
        <p:nvSpPr>
          <p:cNvPr id="32" name="pastille-210"/>
          <p:cNvSpPr txBox="1"/>
          <p:nvPr/>
        </p:nvSpPr>
        <p:spPr>
          <a:xfrm>
            <a:off x="6172200" y="431798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exte-211"/>
          <p:cNvSpPr txBox="1"/>
          <p:nvPr/>
        </p:nvSpPr>
        <p:spPr>
          <a:xfrm>
            <a:off x="6680149" y="422910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Gestion du stress et du temps</a:t>
            </a:r>
            <a:endParaRPr lang="en-US" sz="1700" dirty="0"/>
          </a:p>
        </p:txBody>
      </p:sp>
      <p:sp>
        <p:nvSpPr>
          <p:cNvPr id="34" name="pastille-212"/>
          <p:cNvSpPr txBox="1"/>
          <p:nvPr/>
        </p:nvSpPr>
        <p:spPr>
          <a:xfrm>
            <a:off x="6172200" y="5130790"/>
            <a:ext cx="355610" cy="35561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e-213"/>
          <p:cNvSpPr txBox="1"/>
          <p:nvPr/>
        </p:nvSpPr>
        <p:spPr>
          <a:xfrm>
            <a:off x="6680149" y="5041910"/>
            <a:ext cx="44195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Conseils spécifiques selon le domaine</a:t>
            </a:r>
            <a:endParaRPr lang="en-US" sz="1700" dirty="0"/>
          </a:p>
        </p:txBody>
      </p:sp>
      <p:pic>
        <p:nvPicPr>
          <p:cNvPr id="36" name="Copied Picture 36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4956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OFFRES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chemeClr val="tx1"/>
                </a:solidFill>
              </a:rPr>
              <a:t>Tarifs : de la séance gratuite au pack PRO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dirty="0"/>
              <a:t>À</a:t>
            </a:r>
            <a:r>
              <a:rPr lang="en-US" sz="1400" dirty="0">
                <a:solidFill>
                  <a:schemeClr val="accent5"/>
                </a:solidFill>
              </a:rPr>
              <a:t> ton rythme</a:t>
            </a:r>
            <a:endParaRPr lang="en-US" sz="1400" dirty="0"/>
          </a:p>
        </p:txBody>
      </p:sp>
      <p:sp>
        <p:nvSpPr>
          <p:cNvPr id="5" name="carte-214"/>
          <p:cNvSpPr/>
          <p:nvPr/>
        </p:nvSpPr>
        <p:spPr>
          <a:xfrm>
            <a:off x="812810" y="2679710"/>
            <a:ext cx="5715000" cy="825520"/>
          </a:xfrm>
          <a:prstGeom prst="roundRect">
            <a:avLst>
              <a:gd name="adj" fmla="val 2215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texte-215"/>
          <p:cNvSpPr txBox="1"/>
          <p:nvPr/>
        </p:nvSpPr>
        <p:spPr>
          <a:xfrm>
            <a:off x="1092159" y="2819429"/>
            <a:ext cx="33019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SOLO</a:t>
            </a:r>
            <a:endParaRPr lang="en-US" sz="2000" dirty="0"/>
          </a:p>
        </p:txBody>
      </p:sp>
      <p:sp>
        <p:nvSpPr>
          <p:cNvPr id="7" name="texte-216"/>
          <p:cNvSpPr txBox="1"/>
          <p:nvPr/>
        </p:nvSpPr>
        <p:spPr>
          <a:xfrm>
            <a:off x="1092159" y="3136910"/>
            <a:ext cx="3301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1 séance de 30 min</a:t>
            </a:r>
            <a:endParaRPr lang="en-US" sz="1400" dirty="0"/>
          </a:p>
        </p:txBody>
      </p:sp>
      <p:sp>
        <p:nvSpPr>
          <p:cNvPr id="8" name="pastille-texte-217"/>
          <p:cNvSpPr txBox="1"/>
          <p:nvPr/>
        </p:nvSpPr>
        <p:spPr>
          <a:xfrm>
            <a:off x="4660880" y="2901908"/>
            <a:ext cx="1587490" cy="381030"/>
          </a:xfrm>
          <a:prstGeom prst="roundRect">
            <a:avLst>
              <a:gd name="adj" fmla="val 11999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20 €</a:t>
            </a:r>
            <a:endParaRPr lang="en-US" sz="1800" dirty="0"/>
          </a:p>
        </p:txBody>
      </p:sp>
      <p:sp>
        <p:nvSpPr>
          <p:cNvPr id="9" name="carte-218"/>
          <p:cNvSpPr/>
          <p:nvPr/>
        </p:nvSpPr>
        <p:spPr>
          <a:xfrm>
            <a:off x="812810" y="3657570"/>
            <a:ext cx="5715000" cy="825520"/>
          </a:xfrm>
          <a:prstGeom prst="roundRect">
            <a:avLst>
              <a:gd name="adj" fmla="val 2215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" name="texte-219"/>
          <p:cNvSpPr txBox="1"/>
          <p:nvPr/>
        </p:nvSpPr>
        <p:spPr>
          <a:xfrm>
            <a:off x="1092159" y="3797289"/>
            <a:ext cx="33019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DUO</a:t>
            </a:r>
            <a:endParaRPr lang="en-US" sz="2000" dirty="0"/>
          </a:p>
        </p:txBody>
      </p:sp>
      <p:sp>
        <p:nvSpPr>
          <p:cNvPr id="11" name="texte-220"/>
          <p:cNvSpPr txBox="1"/>
          <p:nvPr/>
        </p:nvSpPr>
        <p:spPr>
          <a:xfrm>
            <a:off x="1092159" y="4114770"/>
            <a:ext cx="3301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1 séance de 60 min</a:t>
            </a:r>
            <a:endParaRPr lang="en-US" sz="1400" dirty="0"/>
          </a:p>
        </p:txBody>
      </p:sp>
      <p:sp>
        <p:nvSpPr>
          <p:cNvPr id="12" name="pastille-texte-221"/>
          <p:cNvSpPr txBox="1"/>
          <p:nvPr/>
        </p:nvSpPr>
        <p:spPr>
          <a:xfrm>
            <a:off x="4660880" y="3879860"/>
            <a:ext cx="1587490" cy="381030"/>
          </a:xfrm>
          <a:prstGeom prst="roundRect">
            <a:avLst>
              <a:gd name="adj" fmla="val 11999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40 €</a:t>
            </a:r>
            <a:endParaRPr lang="en-US" sz="1800" dirty="0"/>
          </a:p>
        </p:txBody>
      </p:sp>
      <p:sp>
        <p:nvSpPr>
          <p:cNvPr id="13" name="carte-222"/>
          <p:cNvSpPr/>
          <p:nvPr/>
        </p:nvSpPr>
        <p:spPr>
          <a:xfrm>
            <a:off x="812810" y="4635520"/>
            <a:ext cx="5715000" cy="825520"/>
          </a:xfrm>
          <a:prstGeom prst="roundRect">
            <a:avLst>
              <a:gd name="adj" fmla="val 2215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" name="texte-223"/>
          <p:cNvSpPr txBox="1"/>
          <p:nvPr/>
        </p:nvSpPr>
        <p:spPr>
          <a:xfrm>
            <a:off x="1092159" y="4775148"/>
            <a:ext cx="33019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STANDARD</a:t>
            </a:r>
            <a:endParaRPr lang="en-US" sz="2000" dirty="0"/>
          </a:p>
        </p:txBody>
      </p:sp>
      <p:sp>
        <p:nvSpPr>
          <p:cNvPr id="15" name="texte-224"/>
          <p:cNvSpPr txBox="1"/>
          <p:nvPr/>
        </p:nvSpPr>
        <p:spPr>
          <a:xfrm>
            <a:off x="1092159" y="5092720"/>
            <a:ext cx="3301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Pack de 5 séances</a:t>
            </a:r>
            <a:endParaRPr lang="en-US" sz="1400" dirty="0"/>
          </a:p>
        </p:txBody>
      </p:sp>
      <p:sp>
        <p:nvSpPr>
          <p:cNvPr id="60" name="duree-60"/>
          <p:cNvSpPr txBox="1"/>
          <p:nvPr/>
        </p:nvSpPr>
        <p:spPr>
          <a:xfrm>
            <a:off x="4660900" y="4737100"/>
            <a:ext cx="762000" cy="190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fr-FR" sz="1100" b="1" dirty="0">
                <a:solidFill>
                  <a:schemeClr val="accent1"/>
                </a:solidFill>
              </a:rPr>
              <a:t>30 min</a:t>
            </a:r>
          </a:p>
        </p:txBody>
      </p:sp>
      <p:sp>
        <p:nvSpPr>
          <p:cNvPr id="61" name="pastille-61"/>
          <p:cNvSpPr txBox="1"/>
          <p:nvPr/>
        </p:nvSpPr>
        <p:spPr>
          <a:xfrm>
            <a:off x="4660900" y="4953000"/>
            <a:ext cx="762000" cy="355600"/>
          </a:xfrm>
          <a:prstGeom prst="roundRect">
            <a:avLst>
              <a:gd name="adj" fmla="val 11999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dirty="0">
                <a:solidFill>
                  <a:schemeClr val="tx2"/>
                </a:solidFill>
              </a:rPr>
              <a:t>80 €</a:t>
            </a:r>
          </a:p>
        </p:txBody>
      </p:sp>
      <p:sp>
        <p:nvSpPr>
          <p:cNvPr id="62" name="duree-62"/>
          <p:cNvSpPr txBox="1"/>
          <p:nvPr/>
        </p:nvSpPr>
        <p:spPr>
          <a:xfrm>
            <a:off x="5486400" y="4737100"/>
            <a:ext cx="762000" cy="190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fr-FR" sz="1100" b="1" dirty="0">
                <a:solidFill>
                  <a:schemeClr val="accent1"/>
                </a:solidFill>
              </a:rPr>
              <a:t>60 min</a:t>
            </a:r>
          </a:p>
        </p:txBody>
      </p:sp>
      <p:sp>
        <p:nvSpPr>
          <p:cNvPr id="63" name="pastille-63"/>
          <p:cNvSpPr txBox="1"/>
          <p:nvPr/>
        </p:nvSpPr>
        <p:spPr>
          <a:xfrm>
            <a:off x="5486400" y="4953000"/>
            <a:ext cx="762000" cy="355600"/>
          </a:xfrm>
          <a:prstGeom prst="roundRect">
            <a:avLst>
              <a:gd name="adj" fmla="val 11999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dirty="0">
                <a:solidFill>
                  <a:schemeClr val="tx2"/>
                </a:solidFill>
              </a:rPr>
              <a:t>160 €</a:t>
            </a:r>
          </a:p>
        </p:txBody>
      </p:sp>
      <p:sp>
        <p:nvSpPr>
          <p:cNvPr id="17" name="carte-226"/>
          <p:cNvSpPr/>
          <p:nvPr/>
        </p:nvSpPr>
        <p:spPr>
          <a:xfrm>
            <a:off x="812810" y="5613379"/>
            <a:ext cx="5715000" cy="825520"/>
          </a:xfrm>
          <a:prstGeom prst="roundRect">
            <a:avLst>
              <a:gd name="adj" fmla="val 2215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8" name="texte-227"/>
          <p:cNvSpPr txBox="1"/>
          <p:nvPr/>
        </p:nvSpPr>
        <p:spPr>
          <a:xfrm>
            <a:off x="1092159" y="5753100"/>
            <a:ext cx="330199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</a:t>
            </a:r>
            <a:endParaRPr lang="en-US" sz="2000" dirty="0"/>
          </a:p>
        </p:txBody>
      </p:sp>
      <p:sp>
        <p:nvSpPr>
          <p:cNvPr id="19" name="texte-228"/>
          <p:cNvSpPr txBox="1"/>
          <p:nvPr/>
        </p:nvSpPr>
        <p:spPr>
          <a:xfrm>
            <a:off x="1092159" y="6070579"/>
            <a:ext cx="3301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Pack de 10 séances</a:t>
            </a:r>
            <a:endParaRPr lang="en-US" sz="1400" dirty="0"/>
          </a:p>
        </p:txBody>
      </p:sp>
      <p:sp>
        <p:nvSpPr>
          <p:cNvPr id="64" name="duree-64"/>
          <p:cNvSpPr txBox="1"/>
          <p:nvPr/>
        </p:nvSpPr>
        <p:spPr>
          <a:xfrm>
            <a:off x="4660900" y="5715000"/>
            <a:ext cx="762000" cy="190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fr-FR" sz="1100" b="1" dirty="0">
                <a:solidFill>
                  <a:schemeClr val="accent1"/>
                </a:solidFill>
              </a:rPr>
              <a:t>30 min</a:t>
            </a:r>
          </a:p>
        </p:txBody>
      </p:sp>
      <p:sp>
        <p:nvSpPr>
          <p:cNvPr id="65" name="pastille-65"/>
          <p:cNvSpPr txBox="1"/>
          <p:nvPr/>
        </p:nvSpPr>
        <p:spPr>
          <a:xfrm>
            <a:off x="4660900" y="5930900"/>
            <a:ext cx="762000" cy="355600"/>
          </a:xfrm>
          <a:prstGeom prst="roundRect">
            <a:avLst>
              <a:gd name="adj" fmla="val 11999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dirty="0">
                <a:solidFill>
                  <a:schemeClr val="tx2"/>
                </a:solidFill>
              </a:rPr>
              <a:t>160 €</a:t>
            </a:r>
          </a:p>
        </p:txBody>
      </p:sp>
      <p:sp>
        <p:nvSpPr>
          <p:cNvPr id="66" name="duree-66"/>
          <p:cNvSpPr txBox="1"/>
          <p:nvPr/>
        </p:nvSpPr>
        <p:spPr>
          <a:xfrm>
            <a:off x="5486400" y="5715000"/>
            <a:ext cx="762000" cy="190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fr-FR" sz="1100" b="1" dirty="0">
                <a:solidFill>
                  <a:schemeClr val="accent1"/>
                </a:solidFill>
              </a:rPr>
              <a:t>60 min</a:t>
            </a:r>
          </a:p>
        </p:txBody>
      </p:sp>
      <p:sp>
        <p:nvSpPr>
          <p:cNvPr id="67" name="pastille-67"/>
          <p:cNvSpPr txBox="1"/>
          <p:nvPr/>
        </p:nvSpPr>
        <p:spPr>
          <a:xfrm>
            <a:off x="5486400" y="5930900"/>
            <a:ext cx="762000" cy="355600"/>
          </a:xfrm>
          <a:prstGeom prst="roundRect">
            <a:avLst>
              <a:gd name="adj" fmla="val 11999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dirty="0">
                <a:solidFill>
                  <a:schemeClr val="tx2"/>
                </a:solidFill>
              </a:rPr>
              <a:t>321 €</a:t>
            </a:r>
          </a:p>
        </p:txBody>
      </p:sp>
      <p:sp>
        <p:nvSpPr>
          <p:cNvPr id="21" name="carte-230"/>
          <p:cNvSpPr/>
          <p:nvPr/>
        </p:nvSpPr>
        <p:spPr>
          <a:xfrm>
            <a:off x="6680149" y="2679710"/>
            <a:ext cx="4699010" cy="378461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2" name="texte-231"/>
          <p:cNvSpPr txBox="1"/>
          <p:nvPr/>
        </p:nvSpPr>
        <p:spPr>
          <a:xfrm>
            <a:off x="6959590" y="2882889"/>
            <a:ext cx="381003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Bon à savoir</a:t>
            </a:r>
            <a:endParaRPr lang="en-US" sz="1600" dirty="0"/>
          </a:p>
        </p:txBody>
      </p:sp>
      <p:sp>
        <p:nvSpPr>
          <p:cNvPr id="23" name="encart-232"/>
          <p:cNvSpPr/>
          <p:nvPr/>
        </p:nvSpPr>
        <p:spPr>
          <a:xfrm>
            <a:off x="6934170" y="3378220"/>
            <a:ext cx="4190970" cy="711220"/>
          </a:xfrm>
          <a:prstGeom prst="roundRect">
            <a:avLst>
              <a:gd name="adj" fmla="val 1542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4" name="texte-233"/>
          <p:cNvSpPr txBox="1"/>
          <p:nvPr/>
        </p:nvSpPr>
        <p:spPr>
          <a:xfrm>
            <a:off x="7112020" y="3454389"/>
            <a:ext cx="38100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SOLO &amp; DUO</a:t>
            </a:r>
            <a:endParaRPr lang="en-US" sz="1300" dirty="0"/>
          </a:p>
        </p:txBody>
      </p:sp>
      <p:sp>
        <p:nvSpPr>
          <p:cNvPr id="25" name="texte-234"/>
          <p:cNvSpPr txBox="1"/>
          <p:nvPr/>
        </p:nvSpPr>
        <p:spPr>
          <a:xfrm>
            <a:off x="7112020" y="3708410"/>
            <a:ext cx="387349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Personnalisées</a:t>
            </a:r>
            <a:endParaRPr lang="en-US" sz="1600" dirty="0"/>
          </a:p>
        </p:txBody>
      </p:sp>
      <p:sp>
        <p:nvSpPr>
          <p:cNvPr id="26" name="encart-235"/>
          <p:cNvSpPr/>
          <p:nvPr/>
        </p:nvSpPr>
        <p:spPr>
          <a:xfrm>
            <a:off x="6934170" y="4216358"/>
            <a:ext cx="4190970" cy="711220"/>
          </a:xfrm>
          <a:prstGeom prst="roundRect">
            <a:avLst>
              <a:gd name="adj" fmla="val 1542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texte-236"/>
          <p:cNvSpPr txBox="1"/>
          <p:nvPr/>
        </p:nvSpPr>
        <p:spPr>
          <a:xfrm>
            <a:off x="7112020" y="4292620"/>
            <a:ext cx="38100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STANDARD</a:t>
            </a:r>
            <a:endParaRPr lang="en-US" sz="1300" dirty="0"/>
          </a:p>
        </p:txBody>
      </p:sp>
      <p:sp>
        <p:nvSpPr>
          <p:cNvPr id="28" name="texte-237"/>
          <p:cNvSpPr txBox="1"/>
          <p:nvPr/>
        </p:nvSpPr>
        <p:spPr>
          <a:xfrm>
            <a:off x="7112020" y="4546548"/>
            <a:ext cx="387349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5 thématiques</a:t>
            </a:r>
            <a:endParaRPr lang="en-US" sz="1600" dirty="0"/>
          </a:p>
        </p:txBody>
      </p:sp>
      <p:sp>
        <p:nvSpPr>
          <p:cNvPr id="29" name="encart-238"/>
          <p:cNvSpPr/>
          <p:nvPr/>
        </p:nvSpPr>
        <p:spPr>
          <a:xfrm>
            <a:off x="6934170" y="5054589"/>
            <a:ext cx="4190970" cy="711220"/>
          </a:xfrm>
          <a:prstGeom prst="roundRect">
            <a:avLst>
              <a:gd name="adj" fmla="val 1542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0" name="texte-239"/>
          <p:cNvSpPr txBox="1"/>
          <p:nvPr/>
        </p:nvSpPr>
        <p:spPr>
          <a:xfrm>
            <a:off x="7112020" y="5130758"/>
            <a:ext cx="38100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</a:t>
            </a:r>
            <a:endParaRPr lang="en-US" sz="1300" dirty="0"/>
          </a:p>
        </p:txBody>
      </p:sp>
      <p:sp>
        <p:nvSpPr>
          <p:cNvPr id="31" name="texte-240"/>
          <p:cNvSpPr txBox="1"/>
          <p:nvPr/>
        </p:nvSpPr>
        <p:spPr>
          <a:xfrm>
            <a:off x="7112020" y="5384779"/>
            <a:ext cx="387349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2x </a:t>
            </a:r>
            <a:r>
              <a:rPr lang="en-US" sz="1600" b="1" dirty="0"/>
              <a:t>de temps par </a:t>
            </a:r>
            <a:r>
              <a:rPr lang="en-US" sz="1600" b="1" dirty="0">
                <a:solidFill>
                  <a:schemeClr val="tx1"/>
                </a:solidFill>
              </a:rPr>
              <a:t>thématique</a:t>
            </a:r>
            <a:endParaRPr lang="en-US" sz="1600" dirty="0"/>
          </a:p>
        </p:txBody>
      </p:sp>
      <p:sp>
        <p:nvSpPr>
          <p:cNvPr id="32" name="paiement-241"/>
          <p:cNvSpPr/>
          <p:nvPr/>
        </p:nvSpPr>
        <p:spPr>
          <a:xfrm>
            <a:off x="6934170" y="5892820"/>
            <a:ext cx="4190970" cy="469910"/>
          </a:xfrm>
          <a:prstGeom prst="roundRect">
            <a:avLst>
              <a:gd name="adj" fmla="val 2335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3" name="texte-242"/>
          <p:cNvSpPr txBox="1"/>
          <p:nvPr/>
        </p:nvSpPr>
        <p:spPr>
          <a:xfrm>
            <a:off x="7112020" y="5892820"/>
            <a:ext cx="3810030" cy="46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Paiement via </a:t>
            </a:r>
            <a:r>
              <a:rPr lang="en-US" sz="1600" b="1" dirty="0">
                <a:solidFill>
                  <a:schemeClr val="bg1"/>
                </a:solidFill>
              </a:rPr>
              <a:t>Wero</a:t>
            </a:r>
            <a:endParaRPr lang="en-US" sz="1600" dirty="0"/>
          </a:p>
        </p:txBody>
      </p:sp>
      <p:pic>
        <p:nvPicPr>
          <p:cNvPr id="34" name="Copied Picture 34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0" name="decouverte-80"/>
          <p:cNvSpPr/>
          <p:nvPr/>
        </p:nvSpPr>
        <p:spPr>
          <a:xfrm>
            <a:off x="812800" y="1841500"/>
            <a:ext cx="10566400" cy="711200"/>
          </a:xfrm>
          <a:prstGeom prst="roundRect">
            <a:avLst>
              <a:gd name="adj" fmla="val 2215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1" name="decouverte-81"/>
          <p:cNvSpPr txBox="1"/>
          <p:nvPr/>
        </p:nvSpPr>
        <p:spPr>
          <a:xfrm>
            <a:off x="1092200" y="19304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DÉCOUVERTE</a:t>
            </a:r>
            <a:endParaRPr lang="en-US" sz="2000" dirty="0"/>
          </a:p>
        </p:txBody>
      </p:sp>
      <p:sp>
        <p:nvSpPr>
          <p:cNvPr id="82" name="decouverte-82"/>
          <p:cNvSpPr txBox="1"/>
          <p:nvPr/>
        </p:nvSpPr>
        <p:spPr>
          <a:xfrm>
            <a:off x="1092200" y="22352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Première séance</a:t>
            </a:r>
            <a:endParaRPr lang="en-US" sz="1400" dirty="0"/>
          </a:p>
        </p:txBody>
      </p:sp>
      <p:sp>
        <p:nvSpPr>
          <p:cNvPr id="83" name="decouverte-83"/>
          <p:cNvSpPr txBox="1"/>
          <p:nvPr/>
        </p:nvSpPr>
        <p:spPr>
          <a:xfrm>
            <a:off x="9512300" y="2006600"/>
            <a:ext cx="1587500" cy="381000"/>
          </a:xfrm>
          <a:prstGeom prst="roundRect">
            <a:avLst>
              <a:gd name="adj" fmla="val 11999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Gratuite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69054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SÉANCE EN COURS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Aujourd’hui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Cinq étapes pour ce rendez-vous</a:t>
            </a:r>
            <a:endParaRPr lang="en-US" sz="1400" dirty="0"/>
          </a:p>
        </p:txBody>
      </p:sp>
      <p:sp>
        <p:nvSpPr>
          <p:cNvPr id="5" name="carte-sombre-243"/>
          <p:cNvSpPr/>
          <p:nvPr/>
        </p:nvSpPr>
        <p:spPr>
          <a:xfrm>
            <a:off x="812810" y="1841510"/>
            <a:ext cx="10566349" cy="711220"/>
          </a:xfrm>
          <a:prstGeom prst="roundRect">
            <a:avLst>
              <a:gd name="adj" fmla="val 2571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texte-244"/>
          <p:cNvSpPr txBox="1"/>
          <p:nvPr/>
        </p:nvSpPr>
        <p:spPr>
          <a:xfrm>
            <a:off x="1092159" y="1841510"/>
            <a:ext cx="88898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01</a:t>
            </a:r>
            <a:endParaRPr lang="en-US" sz="3000" dirty="0"/>
          </a:p>
        </p:txBody>
      </p:sp>
      <p:sp>
        <p:nvSpPr>
          <p:cNvPr id="7" name="texte-245"/>
          <p:cNvSpPr txBox="1"/>
          <p:nvPr/>
        </p:nvSpPr>
        <p:spPr>
          <a:xfrm>
            <a:off x="1981230" y="1841510"/>
            <a:ext cx="911858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Analyse du parcours et de l’objectif</a:t>
            </a:r>
            <a:r>
              <a:rPr lang="fr-FR" sz="1400" b="0" dirty="0">
                <a:solidFill>
                  <a:schemeClr val="bg1">
                    <a:alpha val="75000"/>
                  </a:schemeClr>
                </a:solidFill>
              </a:rPr>
              <a:t>   ·   Slide 13</a:t>
            </a:r>
            <a:endParaRPr lang="en-US" sz="2000" dirty="0"/>
          </a:p>
        </p:txBody>
      </p:sp>
      <p:sp>
        <p:nvSpPr>
          <p:cNvPr id="8" name="carte-sombre-246"/>
          <p:cNvSpPr/>
          <p:nvPr/>
        </p:nvSpPr>
        <p:spPr>
          <a:xfrm>
            <a:off x="812810" y="2679649"/>
            <a:ext cx="10566349" cy="711220"/>
          </a:xfrm>
          <a:prstGeom prst="roundRect">
            <a:avLst>
              <a:gd name="adj" fmla="val 2571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9" name="texte-247"/>
          <p:cNvSpPr txBox="1"/>
          <p:nvPr/>
        </p:nvSpPr>
        <p:spPr>
          <a:xfrm>
            <a:off x="1092159" y="2679649"/>
            <a:ext cx="88898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02</a:t>
            </a:r>
            <a:endParaRPr lang="en-US" sz="3000" dirty="0"/>
          </a:p>
        </p:txBody>
      </p:sp>
      <p:sp>
        <p:nvSpPr>
          <p:cNvPr id="10" name="texte-248"/>
          <p:cNvSpPr txBox="1"/>
          <p:nvPr/>
        </p:nvSpPr>
        <p:spPr>
          <a:xfrm>
            <a:off x="1981230" y="2679649"/>
            <a:ext cx="911858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Relecture rapide du CV et du profil LinkedIn</a:t>
            </a:r>
            <a:r>
              <a:rPr lang="fr-FR" sz="1400" b="0" dirty="0">
                <a:solidFill>
                  <a:schemeClr val="bg1">
                    <a:alpha val="75000"/>
                  </a:schemeClr>
                </a:solidFill>
              </a:rPr>
              <a:t>   ·   Slides 14 et 15</a:t>
            </a:r>
            <a:endParaRPr lang="en-US" sz="2000" dirty="0"/>
          </a:p>
        </p:txBody>
      </p:sp>
      <p:sp>
        <p:nvSpPr>
          <p:cNvPr id="11" name="carte-sombre-249"/>
          <p:cNvSpPr/>
          <p:nvPr/>
        </p:nvSpPr>
        <p:spPr>
          <a:xfrm>
            <a:off x="812810" y="3517880"/>
            <a:ext cx="10566349" cy="711220"/>
          </a:xfrm>
          <a:prstGeom prst="roundRect">
            <a:avLst>
              <a:gd name="adj" fmla="val 2571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2" name="texte-250"/>
          <p:cNvSpPr txBox="1"/>
          <p:nvPr/>
        </p:nvSpPr>
        <p:spPr>
          <a:xfrm>
            <a:off x="1092159" y="3517880"/>
            <a:ext cx="88898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03</a:t>
            </a:r>
            <a:endParaRPr lang="en-US" sz="3000" dirty="0"/>
          </a:p>
        </p:txBody>
      </p:sp>
      <p:sp>
        <p:nvSpPr>
          <p:cNvPr id="13" name="texte-251"/>
          <p:cNvSpPr txBox="1"/>
          <p:nvPr/>
        </p:nvSpPr>
        <p:spPr>
          <a:xfrm>
            <a:off x="1981230" y="3517880"/>
            <a:ext cx="911858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Identification des priorités immédiates</a:t>
            </a:r>
            <a:r>
              <a:rPr lang="fr-FR" sz="1400" b="0" dirty="0">
                <a:solidFill>
                  <a:schemeClr val="bg1">
                    <a:alpha val="75000"/>
                  </a:schemeClr>
                </a:solidFill>
              </a:rPr>
              <a:t>   ·   Slide 16</a:t>
            </a:r>
            <a:endParaRPr lang="en-US" sz="2000" dirty="0"/>
          </a:p>
        </p:txBody>
      </p:sp>
      <p:sp>
        <p:nvSpPr>
          <p:cNvPr id="14" name="carte-sombre-252"/>
          <p:cNvSpPr/>
          <p:nvPr/>
        </p:nvSpPr>
        <p:spPr>
          <a:xfrm>
            <a:off x="812810" y="4356110"/>
            <a:ext cx="10566349" cy="711220"/>
          </a:xfrm>
          <a:prstGeom prst="roundRect">
            <a:avLst>
              <a:gd name="adj" fmla="val 2571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e-253"/>
          <p:cNvSpPr txBox="1"/>
          <p:nvPr/>
        </p:nvSpPr>
        <p:spPr>
          <a:xfrm>
            <a:off x="1092159" y="4356110"/>
            <a:ext cx="88898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04</a:t>
            </a:r>
            <a:endParaRPr lang="en-US" sz="3000" dirty="0"/>
          </a:p>
        </p:txBody>
      </p:sp>
      <p:sp>
        <p:nvSpPr>
          <p:cNvPr id="16" name="texte-254"/>
          <p:cNvSpPr txBox="1"/>
          <p:nvPr/>
        </p:nvSpPr>
        <p:spPr>
          <a:xfrm>
            <a:off x="1981230" y="4356110"/>
            <a:ext cx="911858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Plan d’actions jusqu’à l’échéance</a:t>
            </a:r>
            <a:r>
              <a:rPr lang="fr-FR" sz="1400" b="0" dirty="0">
                <a:solidFill>
                  <a:schemeClr val="bg1">
                    <a:alpha val="75000"/>
                  </a:schemeClr>
                </a:solidFill>
              </a:rPr>
              <a:t>   ·   Slide 17</a:t>
            </a:r>
            <a:endParaRPr lang="en-US" sz="2000" dirty="0"/>
          </a:p>
        </p:txBody>
      </p:sp>
      <p:sp>
        <p:nvSpPr>
          <p:cNvPr id="17" name="carte-sombre-255"/>
          <p:cNvSpPr/>
          <p:nvPr/>
        </p:nvSpPr>
        <p:spPr>
          <a:xfrm>
            <a:off x="812810" y="5194249"/>
            <a:ext cx="10566349" cy="711220"/>
          </a:xfrm>
          <a:prstGeom prst="roundRect">
            <a:avLst>
              <a:gd name="adj" fmla="val 2571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8" name="texte-256"/>
          <p:cNvSpPr txBox="1"/>
          <p:nvPr/>
        </p:nvSpPr>
        <p:spPr>
          <a:xfrm>
            <a:off x="1092159" y="5194249"/>
            <a:ext cx="88898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05</a:t>
            </a:r>
            <a:endParaRPr lang="en-US" sz="3000" dirty="0"/>
          </a:p>
        </p:txBody>
      </p:sp>
      <p:sp>
        <p:nvSpPr>
          <p:cNvPr id="19" name="texte-257"/>
          <p:cNvSpPr txBox="1"/>
          <p:nvPr/>
        </p:nvSpPr>
        <p:spPr>
          <a:xfrm>
            <a:off x="1981230" y="5194249"/>
            <a:ext cx="911858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Conseils concrets à appliquer dès la fin du RDV</a:t>
            </a:r>
            <a:r>
              <a:rPr lang="fr-FR" sz="1400" b="0" dirty="0">
                <a:solidFill>
                  <a:schemeClr val="bg1">
                    <a:alpha val="75000"/>
                  </a:schemeClr>
                </a:solidFill>
              </a:rPr>
              <a:t>   ·   Slide 18</a:t>
            </a:r>
            <a:endParaRPr lang="en-US" sz="2000" dirty="0"/>
          </a:p>
        </p:txBody>
      </p:sp>
      <p:pic>
        <p:nvPicPr>
          <p:cNvPr id="20" name="Copied Picture 20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845665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DÉMARRER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Analyse du parcours et de l’objectif</a:t>
            </a:r>
            <a:endParaRPr lang="en-US" sz="3000" dirty="0"/>
          </a:p>
        </p:txBody>
      </p:sp>
      <p:sp>
        <p:nvSpPr>
          <p:cNvPr id="4" name="carte-258"/>
          <p:cNvSpPr/>
          <p:nvPr/>
        </p:nvSpPr>
        <p:spPr>
          <a:xfrm>
            <a:off x="812800" y="1841500"/>
            <a:ext cx="4826000" cy="44450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texte-259"/>
          <p:cNvSpPr txBox="1"/>
          <p:nvPr/>
        </p:nvSpPr>
        <p:spPr>
          <a:xfrm>
            <a:off x="1168400" y="2197100"/>
            <a:ext cx="4127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fr-FR" sz="2600" b="1" dirty="0">
                <a:solidFill>
                  <a:schemeClr val="accent2"/>
                </a:solidFill>
              </a:rPr>
              <a:t>Décrocher quoi ?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fr-FR" sz="1800" i="1" dirty="0">
                <a:solidFill>
                  <a:schemeClr val="accent2"/>
                </a:solidFill>
              </a:rPr>
              <a:t>Le poste visé, en une phrase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fr-FR" sz="22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26" name="carte-critere-3"/>
          <p:cNvSpPr/>
          <p:nvPr/>
        </p:nvSpPr>
        <p:spPr>
          <a:xfrm>
            <a:off x="8712200" y="4165600"/>
            <a:ext cx="2667000" cy="21209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4" name="carte-critere-2"/>
          <p:cNvSpPr/>
          <p:nvPr/>
        </p:nvSpPr>
        <p:spPr>
          <a:xfrm>
            <a:off x="5892800" y="4165600"/>
            <a:ext cx="2667000" cy="21209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2" name="carte-critere-1"/>
          <p:cNvSpPr/>
          <p:nvPr/>
        </p:nvSpPr>
        <p:spPr>
          <a:xfrm>
            <a:off x="8712200" y="1841500"/>
            <a:ext cx="2667000" cy="21209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0" name="carte-critere-0"/>
          <p:cNvSpPr/>
          <p:nvPr/>
        </p:nvSpPr>
        <p:spPr>
          <a:xfrm>
            <a:off x="5892800" y="1841500"/>
            <a:ext cx="2667000" cy="21209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5"/>
                </a:solidFill>
              </a:rPr>
              <a:t>Faire le point sur ton parcours et clarifier le poste visé</a:t>
            </a:r>
          </a:p>
        </p:txBody>
      </p:sp>
      <p:sp>
        <p:nvSpPr>
          <p:cNvPr id="21" name="texte-critere-0"/>
          <p:cNvSpPr txBox="1"/>
          <p:nvPr/>
        </p:nvSpPr>
        <p:spPr>
          <a:xfrm>
            <a:off x="6096000" y="2044700"/>
            <a:ext cx="2260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fr-FR" sz="1800" b="1" dirty="0">
                <a:solidFill>
                  <a:schemeClr val="accent1"/>
                </a:solidFill>
              </a:rPr>
              <a:t>Profil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fr-FR" sz="1400" i="1" dirty="0">
                <a:solidFill>
                  <a:schemeClr val="accent5"/>
                </a:solidFill>
              </a:rPr>
              <a:t>Junior, confirmé…</a:t>
            </a:r>
          </a:p>
          <a:p>
            <a:pPr marL="0" indent="0">
              <a:buNone/>
            </a:pPr>
            <a:r>
              <a:rPr lang="fr-FR" sz="1400" b="1" i="1" dirty="0">
                <a:solidFill>
                  <a:schemeClr val="accent2"/>
                </a:solidFill>
              </a:rPr>
              <a:t>À compléter…</a:t>
            </a:r>
          </a:p>
        </p:txBody>
      </p:sp>
      <p:sp>
        <p:nvSpPr>
          <p:cNvPr id="23" name="texte-critere-1"/>
          <p:cNvSpPr txBox="1"/>
          <p:nvPr/>
        </p:nvSpPr>
        <p:spPr>
          <a:xfrm>
            <a:off x="8915400" y="2044700"/>
            <a:ext cx="2260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fr-FR" sz="1800" b="1" dirty="0">
                <a:solidFill>
                  <a:schemeClr val="accent1"/>
                </a:solidFill>
              </a:rPr>
              <a:t>Secteur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fr-FR" sz="1400" i="1" dirty="0">
                <a:solidFill>
                  <a:schemeClr val="accent5"/>
                </a:solidFill>
              </a:rPr>
              <a:t>Tech, industrie…</a:t>
            </a:r>
          </a:p>
          <a:p>
            <a:pPr marL="0" indent="0">
              <a:buNone/>
            </a:pPr>
            <a:r>
              <a:rPr lang="fr-FR" sz="1400" b="1" i="1" dirty="0">
                <a:solidFill>
                  <a:schemeClr val="accent2"/>
                </a:solidFill>
              </a:rPr>
              <a:t>À compléter…</a:t>
            </a:r>
          </a:p>
        </p:txBody>
      </p:sp>
      <p:sp>
        <p:nvSpPr>
          <p:cNvPr id="25" name="texte-critere-2"/>
          <p:cNvSpPr txBox="1"/>
          <p:nvPr/>
        </p:nvSpPr>
        <p:spPr>
          <a:xfrm>
            <a:off x="6096000" y="4368800"/>
            <a:ext cx="2260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fr-FR" sz="1800" b="1" dirty="0">
                <a:solidFill>
                  <a:schemeClr val="accent1"/>
                </a:solidFill>
              </a:rPr>
              <a:t>Type d’entreprise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fr-FR" sz="1400" i="1" dirty="0">
                <a:solidFill>
                  <a:schemeClr val="accent5"/>
                </a:solidFill>
              </a:rPr>
              <a:t>Start-up, PME…</a:t>
            </a:r>
          </a:p>
          <a:p>
            <a:pPr marL="0" indent="0">
              <a:buNone/>
            </a:pPr>
            <a:r>
              <a:rPr lang="fr-FR" sz="1400" b="1" i="1" dirty="0">
                <a:solidFill>
                  <a:schemeClr val="accent2"/>
                </a:solidFill>
              </a:rPr>
              <a:t>À compléter…</a:t>
            </a:r>
          </a:p>
        </p:txBody>
      </p:sp>
      <p:sp>
        <p:nvSpPr>
          <p:cNvPr id="27" name="texte-critere-3"/>
          <p:cNvSpPr txBox="1"/>
          <p:nvPr/>
        </p:nvSpPr>
        <p:spPr>
          <a:xfrm>
            <a:off x="8915400" y="4368800"/>
            <a:ext cx="2260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fr-FR" sz="1800" b="1" dirty="0">
                <a:solidFill>
                  <a:schemeClr val="accent1"/>
                </a:solidFill>
              </a:rPr>
              <a:t>Taille d’équipe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fr-FR" sz="1400" i="1" dirty="0">
                <a:solidFill>
                  <a:schemeClr val="accent5"/>
                </a:solidFill>
              </a:rPr>
              <a:t>Petite ou grande ?</a:t>
            </a:r>
          </a:p>
          <a:p>
            <a:pPr marL="0" indent="0">
              <a:buNone/>
            </a:pPr>
            <a:r>
              <a:rPr lang="fr-FR" sz="1400" b="1" i="1" dirty="0">
                <a:solidFill>
                  <a:schemeClr val="accent2"/>
                </a:solidFill>
              </a:rPr>
              <a:t>À compléter…</a:t>
            </a:r>
          </a:p>
        </p:txBody>
      </p:sp>
      <p:pic>
        <p:nvPicPr>
          <p:cNvPr id="8" name="Copied Picture 8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3078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TRAVAIL EN SÉANCE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CV</a:t>
            </a:r>
            <a:endParaRPr lang="en-US" sz="3000" dirty="0"/>
          </a:p>
        </p:txBody>
      </p:sp>
      <p:sp>
        <p:nvSpPr>
          <p:cNvPr id="8" name="colonne-1"/>
          <p:cNvSpPr/>
          <p:nvPr/>
        </p:nvSpPr>
        <p:spPr>
          <a:xfrm>
            <a:off x="812810" y="1841510"/>
            <a:ext cx="5181575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Points forts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9" name="colonne-2"/>
          <p:cNvSpPr/>
          <p:nvPr/>
        </p:nvSpPr>
        <p:spPr>
          <a:xfrm>
            <a:off x="6197585" y="1841510"/>
            <a:ext cx="5181575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À améliorer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5"/>
                </a:solidFill>
              </a:rPr>
              <a:t>Revoir ton CV ensemble, section par section</a:t>
            </a:r>
          </a:p>
        </p:txBody>
      </p:sp>
      <p:pic>
        <p:nvPicPr>
          <p:cNvPr id="7" name="Copied Picture 7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84613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TRAVAIL EN SÉANCE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LinkedIn</a:t>
            </a:r>
            <a:endParaRPr lang="en-US" sz="3000" dirty="0"/>
          </a:p>
        </p:txBody>
      </p:sp>
      <p:sp>
        <p:nvSpPr>
          <p:cNvPr id="8" name="colonne-1"/>
          <p:cNvSpPr/>
          <p:nvPr/>
        </p:nvSpPr>
        <p:spPr>
          <a:xfrm>
            <a:off x="812810" y="1841510"/>
            <a:ext cx="5181575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Points forts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9" name="colonne-2"/>
          <p:cNvSpPr/>
          <p:nvPr/>
        </p:nvSpPr>
        <p:spPr>
          <a:xfrm>
            <a:off x="6197585" y="1841510"/>
            <a:ext cx="5181575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À améliorer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5"/>
                </a:solidFill>
              </a:rPr>
              <a:t>Optimiser ton profil</a:t>
            </a:r>
            <a:r>
              <a:rPr lang="fr-FR" dirty="0"/>
              <a:t> pour les recruteurs et développer ton réseau</a:t>
            </a:r>
            <a:endParaRPr lang="fr-FR" sz="1400" dirty="0">
              <a:solidFill>
                <a:schemeClr val="accent5"/>
              </a:solidFill>
            </a:endParaRPr>
          </a:p>
        </p:txBody>
      </p:sp>
      <p:pic>
        <p:nvPicPr>
          <p:cNvPr id="7" name="Copied Picture 7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14971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TRAVAIL EN SÉANCE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Priorités immédiates</a:t>
            </a:r>
            <a:endParaRPr lang="en-US" sz="3000" dirty="0"/>
          </a:p>
        </p:txBody>
      </p:sp>
      <p:sp>
        <p:nvSpPr>
          <p:cNvPr id="8" name="colonne-1"/>
          <p:cNvSpPr/>
          <p:nvPr/>
        </p:nvSpPr>
        <p:spPr>
          <a:xfrm>
            <a:off x="812810" y="1841510"/>
            <a:ext cx="3386650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Priorité 1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9" name="colonne-2"/>
          <p:cNvSpPr/>
          <p:nvPr/>
        </p:nvSpPr>
        <p:spPr>
          <a:xfrm>
            <a:off x="4402660" y="1841510"/>
            <a:ext cx="3386650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Priorité 2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10" name="colonne-3"/>
          <p:cNvSpPr/>
          <p:nvPr/>
        </p:nvSpPr>
        <p:spPr>
          <a:xfrm>
            <a:off x="7992510" y="1841510"/>
            <a:ext cx="3386650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Priorité 3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5"/>
                </a:solidFill>
              </a:rPr>
              <a:t>Les points à traiter en premier, avant le plan d’actions</a:t>
            </a:r>
          </a:p>
        </p:txBody>
      </p:sp>
      <p:pic>
        <p:nvPicPr>
          <p:cNvPr id="7" name="Copied Picture 7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36214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TRAVAIL EN SÉANCE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Plan d’actions</a:t>
            </a:r>
            <a:endParaRPr lang="en-US" sz="3000" dirty="0"/>
          </a:p>
        </p:txBody>
      </p:sp>
      <p:sp>
        <p:nvSpPr>
          <p:cNvPr id="8" name="colonne-1"/>
          <p:cNvSpPr/>
          <p:nvPr/>
        </p:nvSpPr>
        <p:spPr>
          <a:xfrm>
            <a:off x="812810" y="1841510"/>
            <a:ext cx="3386650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Cette semaine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9" name="colonne-2"/>
          <p:cNvSpPr/>
          <p:nvPr/>
        </p:nvSpPr>
        <p:spPr>
          <a:xfrm>
            <a:off x="4402660" y="1841510"/>
            <a:ext cx="3386650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Ce mois-ci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10" name="colonne-3"/>
          <p:cNvSpPr/>
          <p:nvPr/>
        </p:nvSpPr>
        <p:spPr>
          <a:xfrm>
            <a:off x="7992510" y="1841510"/>
            <a:ext cx="3386650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Avant l’échéance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5"/>
                </a:solidFill>
              </a:rPr>
              <a:t>Les prochaines étapes à définir ensemble</a:t>
            </a:r>
          </a:p>
        </p:txBody>
      </p:sp>
      <p:pic>
        <p:nvPicPr>
          <p:cNvPr id="7" name="Copied Picture 7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04405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584210"/>
            <a:ext cx="10566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NEOPLY · TRAVAIL EN SÉANCE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10" y="838230"/>
            <a:ext cx="1056634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Conseils</a:t>
            </a:r>
            <a:endParaRPr lang="en-US" sz="3000" dirty="0"/>
          </a:p>
        </p:txBody>
      </p:sp>
      <p:sp>
        <p:nvSpPr>
          <p:cNvPr id="8" name="colonne-1"/>
          <p:cNvSpPr/>
          <p:nvPr/>
        </p:nvSpPr>
        <p:spPr>
          <a:xfrm>
            <a:off x="812810" y="1841510"/>
            <a:ext cx="3386650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CV &amp; LinkedIn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9" name="colonne-2"/>
          <p:cNvSpPr/>
          <p:nvPr/>
        </p:nvSpPr>
        <p:spPr>
          <a:xfrm>
            <a:off x="4402660" y="1841510"/>
            <a:ext cx="3386650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Candidatures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10" name="colonne-3"/>
          <p:cNvSpPr/>
          <p:nvPr/>
        </p:nvSpPr>
        <p:spPr>
          <a:xfrm>
            <a:off x="7992510" y="1841510"/>
            <a:ext cx="3386650" cy="444499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chemeClr val="accent1"/>
                </a:solidFill>
              </a:rPr>
              <a:t>Entretiens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i="1" dirty="0">
                <a:solidFill>
                  <a:schemeClr val="accent2"/>
                </a:solidFill>
              </a:rPr>
              <a:t>À compléter ensemble…</a:t>
            </a:r>
          </a:p>
        </p:txBody>
      </p:sp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10" y="1371600"/>
            <a:ext cx="105663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5"/>
                </a:solidFill>
              </a:rPr>
              <a:t>Des conseils concrets à appliquer dès la fin du RDV</a:t>
            </a:r>
          </a:p>
        </p:txBody>
      </p:sp>
      <p:pic>
        <p:nvPicPr>
          <p:cNvPr id="7" name="Copied Picture 7" descr="Logo Neoply : CV, LinkedIn, coaching, entretien"/>
          <p:cNvPicPr>
            <a:picLocks noChangeAspect="1"/>
          </p:cNvPicPr>
          <p:nvPr/>
        </p:nvPicPr>
        <p:blipFill>
          <a:blip r:embed="rId3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56031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10" y="812810"/>
            <a:ext cx="609593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3"/>
                </a:solidFill>
              </a:rPr>
              <a:t>CV · LINKEDIN · COACHING · ENTRETIEN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-142240" y="1599812"/>
            <a:ext cx="1233424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dirty="0"/>
              <a:t>    </a:t>
            </a:r>
            <a:r>
              <a:rPr lang="en-US" sz="5400" dirty="0"/>
              <a:t>Des questions ? Disons demain…</a:t>
            </a:r>
            <a:endParaRPr lang="en-US" sz="6000" dirty="0"/>
          </a:p>
        </p:txBody>
      </p:sp>
      <p:pic>
        <p:nvPicPr>
          <p:cNvPr id="4" name="photo-267" descr="Liste à cocher avec un feut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035147"/>
            <a:ext cx="3556000" cy="2006600"/>
          </a:xfrm>
          <a:prstGeom prst="rect">
            <a:avLst/>
          </a:prstGeom>
        </p:spPr>
      </p:pic>
      <p:pic>
        <p:nvPicPr>
          <p:cNvPr id="7" name="Copied Picture 7" descr="Logo Neoply : CV, LinkedIn, coaching, entretien">
            <a:extLst>
              <a:ext uri="{FF2B5EF4-FFF2-40B4-BE49-F238E27FC236}">
                <a16:creationId xmlns:a16="http://schemas.microsoft.com/office/drawing/2014/main" id="{D6F54A7D-D19C-34F5-CF8A-4C94E2233A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66" t="17142" r="12899" b="31144"/>
          <a:stretch>
            <a:fillRect/>
          </a:stretch>
        </p:blipFill>
        <p:spPr>
          <a:xfrm>
            <a:off x="10541000" y="381000"/>
            <a:ext cx="838200" cy="551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07456223"/>
      </p:ext>
    </p:extLst>
  </p:cSld>
  <p:clrMapOvr>
    <a:masterClrMapping/>
  </p:clrMapOvr>
</p:sld>
</file>

<file path=ppt/theme/theme1.xml><?xml version="1.0" encoding="utf-8"?>
<a:theme xmlns:a="http://schemas.openxmlformats.org/drawingml/2006/main" name="Neoply">
  <a:themeElements>
    <a:clrScheme name="Neoply">
      <a:dk1>
        <a:srgbClr val="3C3C3C"/>
      </a:dk1>
      <a:lt1>
        <a:srgbClr val="FFFFFF"/>
      </a:lt1>
      <a:dk2>
        <a:srgbClr val="00264D"/>
      </a:dk2>
      <a:lt2>
        <a:srgbClr val="F4F7FB"/>
      </a:lt2>
      <a:accent1>
        <a:srgbClr val="004D99"/>
      </a:accent1>
      <a:accent2>
        <a:srgbClr val="F0851C"/>
      </a:accent2>
      <a:accent3>
        <a:srgbClr val="9CC2EA"/>
      </a:accent3>
      <a:accent4>
        <a:srgbClr val="E6EFF9"/>
      </a:accent4>
      <a:accent5>
        <a:srgbClr val="5F6B7A"/>
      </a:accent5>
      <a:accent6>
        <a:srgbClr val="D3DFEE"/>
      </a:accent6>
      <a:hlink>
        <a:srgbClr val="004D99"/>
      </a:hlink>
      <a:folHlink>
        <a:srgbClr val="5F6B7A"/>
      </a:folHlink>
    </a:clrScheme>
    <a:fontScheme name="Neoply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38EABC-F504-4798-B606-D3F50923DD7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63202da-3159-468e-b8cf-ae8edc20a4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1332</Words>
  <Application>Microsoft Office PowerPoint</Application>
  <PresentationFormat>Grand écran</PresentationFormat>
  <Paragraphs>387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1" baseType="lpstr">
      <vt:lpstr>Arial</vt:lpstr>
      <vt:lpstr>Neoply</vt:lpstr>
      <vt:lpstr>Neoply</vt:lpstr>
      <vt:lpstr>Ordre du jour</vt:lpstr>
      <vt:lpstr>Mon parcours</vt:lpstr>
      <vt:lpstr>Ton parcours</vt:lpstr>
      <vt:lpstr>Neoply ?</vt:lpstr>
      <vt:lpstr>Séance 1 – CV</vt:lpstr>
      <vt:lpstr>Séance 2 – LinkedIn</vt:lpstr>
      <vt:lpstr>Séance 3 – Job dating</vt:lpstr>
      <vt:lpstr>Séance 4 – Entretien RH</vt:lpstr>
      <vt:lpstr>Séance 5 – Entretien technique</vt:lpstr>
      <vt:lpstr>Tarifs : de la séance gratuite au pack PRO</vt:lpstr>
      <vt:lpstr>Aujourd’hui</vt:lpstr>
      <vt:lpstr>Analyse du parcours et de l’objectif</vt:lpstr>
      <vt:lpstr>CV</vt:lpstr>
      <vt:lpstr>LinkedIn</vt:lpstr>
      <vt:lpstr>Priorités immédiates</vt:lpstr>
      <vt:lpstr>Plan d’actions</vt:lpstr>
      <vt:lpstr>Conseils</vt:lpstr>
      <vt:lpstr>    Des questions ? Disons demain…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Neoply</dc:title>
  <dc:subject>PptxGenJS Presentation</dc:subject>
  <dc:creator>Nicolas BOGALHEIRO</dc:creator>
  <cp:lastModifiedBy>Nicolas Bogalheiro</cp:lastModifiedBy>
  <cp:revision>3</cp:revision>
  <dcterms:created xsi:type="dcterms:W3CDTF">2026-10-03T07:34:28Z</dcterms:created>
  <dcterms:modified xsi:type="dcterms:W3CDTF">2026-10-06T08:49:47Z</dcterms:modified>
</cp:coreProperties>
</file>